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leway" charset="1" panose="00000000000000000000"/>
      <p:regular r:id="rId19"/>
    </p:embeddedFont>
    <p:embeddedFont>
      <p:font typeface="Roboto" charset="1" panose="02000000000000000000"/>
      <p:regular r:id="rId20"/>
    </p:embeddedFont>
    <p:embeddedFont>
      <p:font typeface="Roboto Bold" charset="1" panose="02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2" Target="../notesSlides/notesSlide8.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680122" y="1384728"/>
            <a:ext cx="9445523" cy="2353866"/>
          </a:xfrm>
          <a:prstGeom prst="rect">
            <a:avLst/>
          </a:prstGeom>
        </p:spPr>
        <p:txBody>
          <a:bodyPr anchor="t" rtlCol="false" tIns="0" lIns="0" bIns="0" rIns="0">
            <a:spAutoFit/>
          </a:bodyPr>
          <a:lstStyle/>
          <a:p>
            <a:pPr algn="l">
              <a:lnSpc>
                <a:spcPts val="6062"/>
              </a:lnSpc>
            </a:pPr>
            <a:r>
              <a:rPr lang="en-US" sz="4875">
                <a:solidFill>
                  <a:srgbClr val="1B1B27"/>
                </a:solidFill>
                <a:latin typeface="Raleway"/>
                <a:ea typeface="Raleway"/>
                <a:cs typeface="Raleway"/>
                <a:sym typeface="Raleway"/>
              </a:rPr>
              <a:t>Sistem Manajemen Antrean dan Pemesanan Digital Berbasis Web (EconoMakan)</a:t>
            </a:r>
          </a:p>
        </p:txBody>
      </p:sp>
      <p:sp>
        <p:nvSpPr>
          <p:cNvPr name="TextBox 9" id="9"/>
          <p:cNvSpPr txBox="true"/>
          <p:nvPr/>
        </p:nvSpPr>
        <p:spPr>
          <a:xfrm rot="0">
            <a:off x="7680122" y="4015419"/>
            <a:ext cx="9445523" cy="3899011"/>
          </a:xfrm>
          <a:prstGeom prst="rect">
            <a:avLst/>
          </a:prstGeom>
        </p:spPr>
        <p:txBody>
          <a:bodyPr anchor="t" rtlCol="false" tIns="0" lIns="0" bIns="0" rIns="0">
            <a:spAutoFit/>
          </a:bodyPr>
          <a:lstStyle/>
          <a:p>
            <a:pPr algn="l">
              <a:lnSpc>
                <a:spcPts val="3123"/>
              </a:lnSpc>
            </a:pPr>
            <a:r>
              <a:rPr lang="en-US" sz="1937">
                <a:solidFill>
                  <a:srgbClr val="3C3939"/>
                </a:solidFill>
                <a:latin typeface="Roboto"/>
                <a:ea typeface="Roboto"/>
                <a:cs typeface="Roboto"/>
                <a:sym typeface="Roboto"/>
              </a:rPr>
              <a:t>Studi kasus: Kedai Bakso Wonogiri, Kantin FEB Universitas Pancasila. </a:t>
            </a:r>
          </a:p>
          <a:p>
            <a:pPr algn="l">
              <a:lnSpc>
                <a:spcPts val="3123"/>
              </a:lnSpc>
            </a:pPr>
          </a:p>
          <a:p>
            <a:pPr algn="l">
              <a:lnSpc>
                <a:spcPts val="3123"/>
              </a:lnSpc>
            </a:pPr>
            <a:r>
              <a:rPr lang="en-US" sz="1937" b="true">
                <a:solidFill>
                  <a:srgbClr val="3C3939"/>
                </a:solidFill>
                <a:latin typeface="Roboto Bold"/>
                <a:ea typeface="Roboto Bold"/>
                <a:cs typeface="Roboto Bold"/>
                <a:sym typeface="Roboto Bold"/>
              </a:rPr>
              <a:t>Disusun oleh Kelompok 11: </a:t>
            </a:r>
          </a:p>
          <a:p>
            <a:pPr algn="l">
              <a:lnSpc>
                <a:spcPts val="3123"/>
              </a:lnSpc>
            </a:pPr>
            <a:r>
              <a:rPr lang="en-US" sz="1937">
                <a:solidFill>
                  <a:srgbClr val="3C3939"/>
                </a:solidFill>
                <a:latin typeface="Roboto"/>
                <a:ea typeface="Roboto"/>
                <a:cs typeface="Roboto"/>
                <a:sym typeface="Roboto"/>
              </a:rPr>
              <a:t>Muhammad Arya Alqadi - 4524210058</a:t>
            </a:r>
          </a:p>
          <a:p>
            <a:pPr algn="l">
              <a:lnSpc>
                <a:spcPts val="3123"/>
              </a:lnSpc>
            </a:pPr>
            <a:r>
              <a:rPr lang="en-US" sz="1937">
                <a:solidFill>
                  <a:srgbClr val="3C3939"/>
                </a:solidFill>
                <a:latin typeface="Roboto"/>
                <a:ea typeface="Roboto"/>
                <a:cs typeface="Roboto"/>
                <a:sym typeface="Roboto"/>
              </a:rPr>
              <a:t>Akbar Rais Fadilla - 4524210007</a:t>
            </a:r>
          </a:p>
          <a:p>
            <a:pPr algn="l">
              <a:lnSpc>
                <a:spcPts val="3123"/>
              </a:lnSpc>
            </a:pPr>
            <a:r>
              <a:rPr lang="en-US" sz="1937">
                <a:solidFill>
                  <a:srgbClr val="3C3939"/>
                </a:solidFill>
                <a:latin typeface="Roboto"/>
                <a:ea typeface="Roboto"/>
                <a:cs typeface="Roboto"/>
                <a:sym typeface="Roboto"/>
              </a:rPr>
              <a:t>Abdurrahman - 4524210003</a:t>
            </a:r>
          </a:p>
          <a:p>
            <a:pPr algn="l">
              <a:lnSpc>
                <a:spcPts val="3123"/>
              </a:lnSpc>
            </a:pPr>
            <a:r>
              <a:rPr lang="en-US" sz="1937">
                <a:solidFill>
                  <a:srgbClr val="3C3939"/>
                </a:solidFill>
                <a:latin typeface="Roboto"/>
                <a:ea typeface="Roboto"/>
                <a:cs typeface="Roboto"/>
                <a:sym typeface="Roboto"/>
              </a:rPr>
              <a:t>Khoiril Chandra Kurniawan - 4524210049</a:t>
            </a:r>
          </a:p>
          <a:p>
            <a:pPr algn="l">
              <a:lnSpc>
                <a:spcPts val="3123"/>
              </a:lnSpc>
            </a:pPr>
            <a:r>
              <a:rPr lang="en-US" sz="1937">
                <a:solidFill>
                  <a:srgbClr val="3C3939"/>
                </a:solidFill>
                <a:latin typeface="Roboto"/>
                <a:ea typeface="Roboto"/>
                <a:cs typeface="Roboto"/>
                <a:sym typeface="Roboto"/>
              </a:rPr>
              <a:t>Farash Adipati Mursalin - 4524210036</a:t>
            </a:r>
          </a:p>
          <a:p>
            <a:pPr algn="l">
              <a:lnSpc>
                <a:spcPts val="3123"/>
              </a:lnSpc>
            </a:pPr>
          </a:p>
          <a:p>
            <a:pPr algn="l">
              <a:lnSpc>
                <a:spcPts val="3125"/>
              </a:lnSpc>
            </a:pPr>
            <a:r>
              <a:rPr lang="en-US" sz="1937" b="true">
                <a:solidFill>
                  <a:srgbClr val="3C3939"/>
                </a:solidFill>
                <a:latin typeface="Roboto Bold"/>
                <a:ea typeface="Roboto Bold"/>
                <a:cs typeface="Roboto Bold"/>
                <a:sym typeface="Roboto Bold"/>
              </a:rPr>
              <a:t>Dosen pengampu:</a:t>
            </a:r>
            <a:r>
              <a:rPr lang="en-US" sz="1937">
                <a:solidFill>
                  <a:srgbClr val="3C3939"/>
                </a:solidFill>
                <a:latin typeface="Roboto"/>
                <a:ea typeface="Roboto"/>
                <a:cs typeface="Roboto"/>
                <a:sym typeface="Roboto"/>
              </a:rPr>
              <a:t> Adi Wahyu Pribadi, S.T., M.T.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992238" y="2091480"/>
            <a:ext cx="9987258" cy="803672"/>
          </a:xfrm>
          <a:prstGeom prst="rect">
            <a:avLst/>
          </a:prstGeom>
        </p:spPr>
        <p:txBody>
          <a:bodyPr anchor="t" rtlCol="false" tIns="0" lIns="0" bIns="0" rIns="0">
            <a:spAutoFit/>
          </a:bodyPr>
          <a:lstStyle/>
          <a:p>
            <a:pPr algn="l">
              <a:lnSpc>
                <a:spcPts val="6062"/>
              </a:lnSpc>
            </a:pPr>
            <a:r>
              <a:rPr lang="en-US" sz="4875">
                <a:solidFill>
                  <a:srgbClr val="1B1B27"/>
                </a:solidFill>
                <a:latin typeface="Raleway"/>
                <a:ea typeface="Raleway"/>
                <a:cs typeface="Raleway"/>
                <a:sym typeface="Raleway"/>
              </a:rPr>
              <a:t>Analisis Kendala Operasional Kedai</a:t>
            </a:r>
          </a:p>
        </p:txBody>
      </p:sp>
      <p:grpSp>
        <p:nvGrpSpPr>
          <p:cNvPr name="Group 7" id="7"/>
          <p:cNvGrpSpPr/>
          <p:nvPr/>
        </p:nvGrpSpPr>
        <p:grpSpPr>
          <a:xfrm rot="0">
            <a:off x="992238" y="3391195"/>
            <a:ext cx="1515961" cy="936869"/>
            <a:chOff x="0" y="0"/>
            <a:chExt cx="2021281" cy="1249159"/>
          </a:xfrm>
        </p:grpSpPr>
        <p:sp>
          <p:nvSpPr>
            <p:cNvPr name="Freeform 8" id="8" descr="preencoded.png"/>
            <p:cNvSpPr/>
            <p:nvPr/>
          </p:nvSpPr>
          <p:spPr>
            <a:xfrm flipH="false" flipV="false" rot="0">
              <a:off x="0" y="0"/>
              <a:ext cx="2021332" cy="1249172"/>
            </a:xfrm>
            <a:custGeom>
              <a:avLst/>
              <a:gdLst/>
              <a:ahLst/>
              <a:cxnLst/>
              <a:rect r="r" b="b" t="t" l="l"/>
              <a:pathLst>
                <a:path h="1249172" w="2021332">
                  <a:moveTo>
                    <a:pt x="0" y="0"/>
                  </a:moveTo>
                  <a:lnTo>
                    <a:pt x="2021332" y="0"/>
                  </a:lnTo>
                  <a:lnTo>
                    <a:pt x="2021332" y="1249172"/>
                  </a:lnTo>
                  <a:lnTo>
                    <a:pt x="0" y="1249172"/>
                  </a:lnTo>
                  <a:lnTo>
                    <a:pt x="0" y="0"/>
                  </a:lnTo>
                  <a:close/>
                </a:path>
              </a:pathLst>
            </a:custGeom>
            <a:blipFill>
              <a:blip r:embed="rId3"/>
              <a:stretch>
                <a:fillRect l="-133" t="0" r="-131" b="1"/>
              </a:stretch>
            </a:blipFill>
          </p:spPr>
        </p:sp>
      </p:grpSp>
      <p:sp>
        <p:nvSpPr>
          <p:cNvPr name="TextBox 9" id="9"/>
          <p:cNvSpPr txBox="true"/>
          <p:nvPr/>
        </p:nvSpPr>
        <p:spPr>
          <a:xfrm rot="0">
            <a:off x="2818209" y="3372145"/>
            <a:ext cx="3401768" cy="794442"/>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Keterbatasan Sumber Daya Manusia</a:t>
            </a:r>
          </a:p>
        </p:txBody>
      </p:sp>
      <p:sp>
        <p:nvSpPr>
          <p:cNvPr name="TextBox 10" id="10"/>
          <p:cNvSpPr txBox="true"/>
          <p:nvPr/>
        </p:nvSpPr>
        <p:spPr>
          <a:xfrm rot="0">
            <a:off x="2818209" y="4220166"/>
            <a:ext cx="3401768" cy="2873721"/>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Kedai hanya memiliki 2 orang pegawai saat jam istirahat sehingga kapasitas layanan terbatas dan memicu antrean panjang yang mengganggu alur mobilitas di kantin FEB.       </a:t>
            </a:r>
          </a:p>
        </p:txBody>
      </p:sp>
      <p:grpSp>
        <p:nvGrpSpPr>
          <p:cNvPr name="Group 11" id="11"/>
          <p:cNvGrpSpPr/>
          <p:nvPr/>
        </p:nvGrpSpPr>
        <p:grpSpPr>
          <a:xfrm rot="0">
            <a:off x="6529978" y="3391195"/>
            <a:ext cx="1515961" cy="936869"/>
            <a:chOff x="0" y="0"/>
            <a:chExt cx="2021281" cy="1249159"/>
          </a:xfrm>
        </p:grpSpPr>
        <p:sp>
          <p:nvSpPr>
            <p:cNvPr name="Freeform 12" id="12" descr="preencoded.png"/>
            <p:cNvSpPr/>
            <p:nvPr/>
          </p:nvSpPr>
          <p:spPr>
            <a:xfrm flipH="false" flipV="false" rot="0">
              <a:off x="0" y="0"/>
              <a:ext cx="2021332" cy="1249172"/>
            </a:xfrm>
            <a:custGeom>
              <a:avLst/>
              <a:gdLst/>
              <a:ahLst/>
              <a:cxnLst/>
              <a:rect r="r" b="b" t="t" l="l"/>
              <a:pathLst>
                <a:path h="1249172" w="2021332">
                  <a:moveTo>
                    <a:pt x="0" y="0"/>
                  </a:moveTo>
                  <a:lnTo>
                    <a:pt x="2021332" y="0"/>
                  </a:lnTo>
                  <a:lnTo>
                    <a:pt x="2021332" y="1249172"/>
                  </a:lnTo>
                  <a:lnTo>
                    <a:pt x="0" y="1249172"/>
                  </a:lnTo>
                  <a:lnTo>
                    <a:pt x="0" y="0"/>
                  </a:lnTo>
                  <a:close/>
                </a:path>
              </a:pathLst>
            </a:custGeom>
            <a:blipFill>
              <a:blip r:embed="rId4"/>
              <a:stretch>
                <a:fillRect l="-133" t="0" r="-131" b="1"/>
              </a:stretch>
            </a:blipFill>
          </p:spPr>
        </p:sp>
      </p:grpSp>
      <p:sp>
        <p:nvSpPr>
          <p:cNvPr name="TextBox 13" id="13"/>
          <p:cNvSpPr txBox="true"/>
          <p:nvPr/>
        </p:nvSpPr>
        <p:spPr>
          <a:xfrm rot="0">
            <a:off x="8355959" y="3372145"/>
            <a:ext cx="3401911" cy="794442"/>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Pencatatan Manual &amp; Kekeliruan Pesanan</a:t>
            </a:r>
          </a:p>
        </p:txBody>
      </p:sp>
      <p:sp>
        <p:nvSpPr>
          <p:cNvPr name="TextBox 14" id="14"/>
          <p:cNvSpPr txBox="true"/>
          <p:nvPr/>
        </p:nvSpPr>
        <p:spPr>
          <a:xfrm rot="0">
            <a:off x="8355959" y="4220166"/>
            <a:ext cx="3401911" cy="2476795"/>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Catatan pesanan dibuat manual; tambahan khusus pelanggan sering terlupakan, menyebabkan miskomunikasi produksi dan pesanan yang salah.       </a:t>
            </a:r>
          </a:p>
        </p:txBody>
      </p:sp>
      <p:grpSp>
        <p:nvGrpSpPr>
          <p:cNvPr name="Group 15" id="15"/>
          <p:cNvGrpSpPr/>
          <p:nvPr/>
        </p:nvGrpSpPr>
        <p:grpSpPr>
          <a:xfrm rot="0">
            <a:off x="12067880" y="3391195"/>
            <a:ext cx="1515961" cy="936869"/>
            <a:chOff x="0" y="0"/>
            <a:chExt cx="2021281" cy="1249159"/>
          </a:xfrm>
        </p:grpSpPr>
        <p:sp>
          <p:nvSpPr>
            <p:cNvPr name="Freeform 16" id="16" descr="preencoded.png"/>
            <p:cNvSpPr/>
            <p:nvPr/>
          </p:nvSpPr>
          <p:spPr>
            <a:xfrm flipH="false" flipV="false" rot="0">
              <a:off x="0" y="0"/>
              <a:ext cx="2021332" cy="1249172"/>
            </a:xfrm>
            <a:custGeom>
              <a:avLst/>
              <a:gdLst/>
              <a:ahLst/>
              <a:cxnLst/>
              <a:rect r="r" b="b" t="t" l="l"/>
              <a:pathLst>
                <a:path h="1249172" w="2021332">
                  <a:moveTo>
                    <a:pt x="0" y="0"/>
                  </a:moveTo>
                  <a:lnTo>
                    <a:pt x="2021332" y="0"/>
                  </a:lnTo>
                  <a:lnTo>
                    <a:pt x="2021332" y="1249172"/>
                  </a:lnTo>
                  <a:lnTo>
                    <a:pt x="0" y="1249172"/>
                  </a:lnTo>
                  <a:lnTo>
                    <a:pt x="0" y="0"/>
                  </a:lnTo>
                  <a:close/>
                </a:path>
              </a:pathLst>
            </a:custGeom>
            <a:blipFill>
              <a:blip r:embed="rId5"/>
              <a:stretch>
                <a:fillRect l="-133" t="0" r="-131" b="1"/>
              </a:stretch>
            </a:blipFill>
          </p:spPr>
        </p:sp>
      </p:grpSp>
      <p:sp>
        <p:nvSpPr>
          <p:cNvPr name="TextBox 17" id="17"/>
          <p:cNvSpPr txBox="true"/>
          <p:nvPr/>
        </p:nvSpPr>
        <p:spPr>
          <a:xfrm rot="0">
            <a:off x="13893851" y="3372145"/>
            <a:ext cx="3401911" cy="794442"/>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Metode Pemanggilan Manual</a:t>
            </a:r>
          </a:p>
        </p:txBody>
      </p:sp>
      <p:sp>
        <p:nvSpPr>
          <p:cNvPr name="TextBox 18" id="18"/>
          <p:cNvSpPr txBox="true"/>
          <p:nvPr/>
        </p:nvSpPr>
        <p:spPr>
          <a:xfrm rot="0">
            <a:off x="13893851" y="4220166"/>
            <a:ext cx="3401911" cy="2336577"/>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Pemanggilan menggunakan teriakan menciptakan Kebisingan dan tidak efisien,serta tidak ada notifikasi digital saat pesanan siap.       </a:t>
            </a:r>
          </a:p>
        </p:txBody>
      </p:sp>
      <p:sp>
        <p:nvSpPr>
          <p:cNvPr name="TextBox 19" id="19"/>
          <p:cNvSpPr txBox="true"/>
          <p:nvPr/>
        </p:nvSpPr>
        <p:spPr>
          <a:xfrm rot="0">
            <a:off x="992238" y="7277691"/>
            <a:ext cx="16303523" cy="774700"/>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Kesimpulan di atas: Kombinasi SDM terbatas, proses manual, dan komunikasi lisan menyebabkan penumpukan, kesalahan pesanan, dan rendahnya efisiensi operasional.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45804" y="704850"/>
            <a:ext cx="9538392" cy="1515961"/>
          </a:xfrm>
          <a:prstGeom prst="rect">
            <a:avLst/>
          </a:prstGeom>
        </p:spPr>
        <p:txBody>
          <a:bodyPr anchor="t" rtlCol="false" tIns="0" lIns="0" bIns="0" rIns="0">
            <a:spAutoFit/>
          </a:bodyPr>
          <a:lstStyle/>
          <a:p>
            <a:pPr algn="l">
              <a:lnSpc>
                <a:spcPts val="5812"/>
              </a:lnSpc>
            </a:pPr>
            <a:r>
              <a:rPr lang="en-US" sz="4625">
                <a:solidFill>
                  <a:srgbClr val="1B1B27"/>
                </a:solidFill>
                <a:latin typeface="Raleway"/>
                <a:ea typeface="Raleway"/>
                <a:cs typeface="Raleway"/>
                <a:sym typeface="Raleway"/>
              </a:rPr>
              <a:t>Wawancara Narasumber: Temuan Kebutuhan</a:t>
            </a:r>
          </a:p>
        </p:txBody>
      </p:sp>
      <p:sp>
        <p:nvSpPr>
          <p:cNvPr name="TextBox 11" id="11"/>
          <p:cNvSpPr txBox="true"/>
          <p:nvPr/>
        </p:nvSpPr>
        <p:spPr>
          <a:xfrm rot="0">
            <a:off x="945804" y="2482606"/>
            <a:ext cx="9538392" cy="1184377"/>
          </a:xfrm>
          <a:prstGeom prst="rect">
            <a:avLst/>
          </a:prstGeom>
        </p:spPr>
        <p:txBody>
          <a:bodyPr anchor="t" rtlCol="false" tIns="0" lIns="0" bIns="0" rIns="0">
            <a:spAutoFit/>
          </a:bodyPr>
          <a:lstStyle/>
          <a:p>
            <a:pPr algn="l">
              <a:lnSpc>
                <a:spcPts val="2875"/>
              </a:lnSpc>
            </a:pPr>
            <a:r>
              <a:rPr lang="en-US" sz="1812">
                <a:solidFill>
                  <a:srgbClr val="3C3939"/>
                </a:solidFill>
                <a:latin typeface="Roboto"/>
                <a:ea typeface="Roboto"/>
                <a:cs typeface="Roboto"/>
                <a:sym typeface="Roboto"/>
              </a:rPr>
              <a:t>     Wawancara langsung dilakukan dengan pemilik kedai, Bapak Sapril, untuk memvalidasi proses bisnis dan kebutuhan operasional. Metode dokumentasi meliputi catatan lapangan dan rekaman video sebagai bukti validitas data.   </a:t>
            </a:r>
          </a:p>
        </p:txBody>
      </p:sp>
      <p:sp>
        <p:nvSpPr>
          <p:cNvPr name="Freeform 12" id="12" descr="preencoded.png"/>
          <p:cNvSpPr/>
          <p:nvPr/>
        </p:nvSpPr>
        <p:spPr>
          <a:xfrm flipH="false" flipV="false" rot="0">
            <a:off x="945804" y="3920433"/>
            <a:ext cx="591141" cy="591141"/>
          </a:xfrm>
          <a:custGeom>
            <a:avLst/>
            <a:gdLst/>
            <a:ahLst/>
            <a:cxnLst/>
            <a:rect r="r" b="b" t="t" l="l"/>
            <a:pathLst>
              <a:path h="591141" w="591141">
                <a:moveTo>
                  <a:pt x="0" y="0"/>
                </a:moveTo>
                <a:lnTo>
                  <a:pt x="591140" y="0"/>
                </a:lnTo>
                <a:lnTo>
                  <a:pt x="591140" y="591140"/>
                </a:lnTo>
                <a:lnTo>
                  <a:pt x="0" y="5911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818532" y="3901383"/>
            <a:ext cx="2955722" cy="388439"/>
          </a:xfrm>
          <a:prstGeom prst="rect">
            <a:avLst/>
          </a:prstGeom>
        </p:spPr>
        <p:txBody>
          <a:bodyPr anchor="t" rtlCol="false" tIns="0" lIns="0" bIns="0" rIns="0">
            <a:spAutoFit/>
          </a:bodyPr>
          <a:lstStyle/>
          <a:p>
            <a:pPr algn="l">
              <a:lnSpc>
                <a:spcPts val="2875"/>
              </a:lnSpc>
            </a:pPr>
            <a:r>
              <a:rPr lang="en-US" sz="2312">
                <a:solidFill>
                  <a:srgbClr val="3C3939"/>
                </a:solidFill>
                <a:latin typeface="Raleway"/>
                <a:ea typeface="Raleway"/>
                <a:cs typeface="Raleway"/>
                <a:sym typeface="Raleway"/>
              </a:rPr>
              <a:t>Pembayaran QRIS</a:t>
            </a:r>
          </a:p>
        </p:txBody>
      </p:sp>
      <p:sp>
        <p:nvSpPr>
          <p:cNvPr name="TextBox 14" id="14"/>
          <p:cNvSpPr txBox="true"/>
          <p:nvPr/>
        </p:nvSpPr>
        <p:spPr>
          <a:xfrm rot="0">
            <a:off x="1818532" y="4348753"/>
            <a:ext cx="8665664" cy="814978"/>
          </a:xfrm>
          <a:prstGeom prst="rect">
            <a:avLst/>
          </a:prstGeom>
        </p:spPr>
        <p:txBody>
          <a:bodyPr anchor="t" rtlCol="false" tIns="0" lIns="0" bIns="0" rIns="0">
            <a:spAutoFit/>
          </a:bodyPr>
          <a:lstStyle/>
          <a:p>
            <a:pPr algn="l">
              <a:lnSpc>
                <a:spcPts val="2875"/>
              </a:lnSpc>
            </a:pPr>
            <a:r>
              <a:rPr lang="en-US" sz="1812">
                <a:solidFill>
                  <a:srgbClr val="3C3939"/>
                </a:solidFill>
                <a:latin typeface="Roboto"/>
                <a:ea typeface="Roboto"/>
                <a:cs typeface="Roboto"/>
                <a:sym typeface="Roboto"/>
              </a:rPr>
              <a:t>         Pemilik membutuhkan integrasi metode pembayaran digital (QRIS) untuk mempercepat transaksi dan mengurangi handling tunai.       </a:t>
            </a:r>
          </a:p>
        </p:txBody>
      </p:sp>
      <p:sp>
        <p:nvSpPr>
          <p:cNvPr name="Freeform 15" id="15" descr="preencoded.png"/>
          <p:cNvSpPr/>
          <p:nvPr/>
        </p:nvSpPr>
        <p:spPr>
          <a:xfrm flipH="false" flipV="false" rot="0">
            <a:off x="945804" y="5614397"/>
            <a:ext cx="591141" cy="591141"/>
          </a:xfrm>
          <a:custGeom>
            <a:avLst/>
            <a:gdLst/>
            <a:ahLst/>
            <a:cxnLst/>
            <a:rect r="r" b="b" t="t" l="l"/>
            <a:pathLst>
              <a:path h="591141" w="591141">
                <a:moveTo>
                  <a:pt x="0" y="0"/>
                </a:moveTo>
                <a:lnTo>
                  <a:pt x="591140" y="0"/>
                </a:lnTo>
                <a:lnTo>
                  <a:pt x="591140" y="591140"/>
                </a:lnTo>
                <a:lnTo>
                  <a:pt x="0" y="591140"/>
                </a:lnTo>
                <a:lnTo>
                  <a:pt x="0" y="0"/>
                </a:lnTo>
                <a:close/>
              </a:path>
            </a:pathLst>
          </a:custGeom>
          <a:blipFill>
            <a:blip r:embed="rId8">
              <a:extLst>
                <a:ext uri="{96DAC541-7B7A-43D3-8B79-37D633B846F1}">
                  <asvg:svgBlip xmlns:asvg="http://schemas.microsoft.com/office/drawing/2016/SVG/main" r:embed="rId9"/>
                </a:ext>
              </a:extLst>
            </a:blip>
            <a:stretch>
              <a:fillRect l="0" t="-7937" r="0" b="-7937"/>
            </a:stretch>
          </a:blipFill>
        </p:spPr>
      </p:sp>
      <p:sp>
        <p:nvSpPr>
          <p:cNvPr name="TextBox 16" id="16"/>
          <p:cNvSpPr txBox="true"/>
          <p:nvPr/>
        </p:nvSpPr>
        <p:spPr>
          <a:xfrm rot="0">
            <a:off x="1818532" y="5595347"/>
            <a:ext cx="3149651" cy="388439"/>
          </a:xfrm>
          <a:prstGeom prst="rect">
            <a:avLst/>
          </a:prstGeom>
        </p:spPr>
        <p:txBody>
          <a:bodyPr anchor="t" rtlCol="false" tIns="0" lIns="0" bIns="0" rIns="0">
            <a:spAutoFit/>
          </a:bodyPr>
          <a:lstStyle/>
          <a:p>
            <a:pPr algn="l">
              <a:lnSpc>
                <a:spcPts val="2875"/>
              </a:lnSpc>
            </a:pPr>
            <a:r>
              <a:rPr lang="en-US" sz="2312">
                <a:solidFill>
                  <a:srgbClr val="3C3939"/>
                </a:solidFill>
                <a:latin typeface="Raleway"/>
                <a:ea typeface="Raleway"/>
                <a:cs typeface="Raleway"/>
                <a:sym typeface="Raleway"/>
              </a:rPr>
              <a:t>Notifikasi Pesanan Siap</a:t>
            </a:r>
          </a:p>
        </p:txBody>
      </p:sp>
      <p:sp>
        <p:nvSpPr>
          <p:cNvPr name="TextBox 17" id="17"/>
          <p:cNvSpPr txBox="true"/>
          <p:nvPr/>
        </p:nvSpPr>
        <p:spPr>
          <a:xfrm rot="0">
            <a:off x="1818532" y="6042717"/>
            <a:ext cx="8665664" cy="711200"/>
          </a:xfrm>
          <a:prstGeom prst="rect">
            <a:avLst/>
          </a:prstGeom>
        </p:spPr>
        <p:txBody>
          <a:bodyPr anchor="t" rtlCol="false" tIns="0" lIns="0" bIns="0" rIns="0">
            <a:spAutoFit/>
          </a:bodyPr>
          <a:lstStyle/>
          <a:p>
            <a:pPr algn="l">
              <a:lnSpc>
                <a:spcPts val="2875"/>
              </a:lnSpc>
            </a:pPr>
            <a:r>
              <a:rPr lang="en-US" sz="1812">
                <a:solidFill>
                  <a:srgbClr val="3C3939"/>
                </a:solidFill>
                <a:latin typeface="Roboto"/>
                <a:ea typeface="Roboto"/>
                <a:cs typeface="Roboto"/>
                <a:sym typeface="Roboto"/>
              </a:rPr>
              <a:t>         Ada kebutuhan notifikasi otomatis kepada pelanggan ketika makanan sudah siap, menggantikan pemanggilan suara/diantar.       </a:t>
            </a:r>
          </a:p>
        </p:txBody>
      </p:sp>
      <p:sp>
        <p:nvSpPr>
          <p:cNvPr name="Freeform 18" id="18" descr="preencoded.png"/>
          <p:cNvSpPr/>
          <p:nvPr/>
        </p:nvSpPr>
        <p:spPr>
          <a:xfrm flipH="false" flipV="false" rot="0">
            <a:off x="945804" y="7308352"/>
            <a:ext cx="591141" cy="591141"/>
          </a:xfrm>
          <a:custGeom>
            <a:avLst/>
            <a:gdLst/>
            <a:ahLst/>
            <a:cxnLst/>
            <a:rect r="r" b="b" t="t" l="l"/>
            <a:pathLst>
              <a:path h="591141" w="591141">
                <a:moveTo>
                  <a:pt x="0" y="0"/>
                </a:moveTo>
                <a:lnTo>
                  <a:pt x="591140" y="0"/>
                </a:lnTo>
                <a:lnTo>
                  <a:pt x="591140" y="591140"/>
                </a:lnTo>
                <a:lnTo>
                  <a:pt x="0" y="591140"/>
                </a:lnTo>
                <a:lnTo>
                  <a:pt x="0" y="0"/>
                </a:lnTo>
                <a:close/>
              </a:path>
            </a:pathLst>
          </a:custGeom>
          <a:blipFill>
            <a:blip r:embed="rId10">
              <a:extLst>
                <a:ext uri="{96DAC541-7B7A-43D3-8B79-37D633B846F1}">
                  <asvg:svgBlip xmlns:asvg="http://schemas.microsoft.com/office/drawing/2016/SVG/main" r:embed="rId11"/>
                </a:ext>
              </a:extLst>
            </a:blip>
            <a:stretch>
              <a:fillRect l="0" t="-7937" r="0" b="-7937"/>
            </a:stretch>
          </a:blipFill>
        </p:spPr>
      </p:sp>
      <p:sp>
        <p:nvSpPr>
          <p:cNvPr name="TextBox 19" id="19"/>
          <p:cNvSpPr txBox="true"/>
          <p:nvPr/>
        </p:nvSpPr>
        <p:spPr>
          <a:xfrm rot="0">
            <a:off x="1818532" y="7289302"/>
            <a:ext cx="4323312" cy="388439"/>
          </a:xfrm>
          <a:prstGeom prst="rect">
            <a:avLst/>
          </a:prstGeom>
        </p:spPr>
        <p:txBody>
          <a:bodyPr anchor="t" rtlCol="false" tIns="0" lIns="0" bIns="0" rIns="0">
            <a:spAutoFit/>
          </a:bodyPr>
          <a:lstStyle/>
          <a:p>
            <a:pPr algn="l">
              <a:lnSpc>
                <a:spcPts val="2875"/>
              </a:lnSpc>
            </a:pPr>
            <a:r>
              <a:rPr lang="en-US" sz="2312">
                <a:solidFill>
                  <a:srgbClr val="3C3939"/>
                </a:solidFill>
                <a:latin typeface="Raleway"/>
                <a:ea typeface="Raleway"/>
                <a:cs typeface="Raleway"/>
                <a:sym typeface="Raleway"/>
              </a:rPr>
              <a:t>Rekapitulasi Pendapatan Harian</a:t>
            </a:r>
          </a:p>
        </p:txBody>
      </p:sp>
      <p:sp>
        <p:nvSpPr>
          <p:cNvPr name="TextBox 20" id="20"/>
          <p:cNvSpPr txBox="true"/>
          <p:nvPr/>
        </p:nvSpPr>
        <p:spPr>
          <a:xfrm rot="0">
            <a:off x="1818532" y="7736681"/>
            <a:ext cx="8665664" cy="814978"/>
          </a:xfrm>
          <a:prstGeom prst="rect">
            <a:avLst/>
          </a:prstGeom>
        </p:spPr>
        <p:txBody>
          <a:bodyPr anchor="t" rtlCol="false" tIns="0" lIns="0" bIns="0" rIns="0">
            <a:spAutoFit/>
          </a:bodyPr>
          <a:lstStyle/>
          <a:p>
            <a:pPr algn="l">
              <a:lnSpc>
                <a:spcPts val="2875"/>
              </a:lnSpc>
            </a:pPr>
            <a:r>
              <a:rPr lang="en-US" sz="1812">
                <a:solidFill>
                  <a:srgbClr val="3C3939"/>
                </a:solidFill>
                <a:latin typeface="Roboto"/>
                <a:ea typeface="Roboto"/>
                <a:cs typeface="Roboto"/>
                <a:sym typeface="Roboto"/>
              </a:rPr>
              <a:t>         Rekap pendapatan saat ini manual; pemilik menginginkan laporan harian terstruktur untuk memantau performa tanpa mengganggu operasi.       </a:t>
            </a:r>
          </a:p>
        </p:txBody>
      </p:sp>
      <p:sp>
        <p:nvSpPr>
          <p:cNvPr name="TextBox 21" id="21"/>
          <p:cNvSpPr txBox="true"/>
          <p:nvPr/>
        </p:nvSpPr>
        <p:spPr>
          <a:xfrm rot="0">
            <a:off x="945804" y="8728920"/>
            <a:ext cx="9538392" cy="814978"/>
          </a:xfrm>
          <a:prstGeom prst="rect">
            <a:avLst/>
          </a:prstGeom>
        </p:spPr>
        <p:txBody>
          <a:bodyPr anchor="t" rtlCol="false" tIns="0" lIns="0" bIns="0" rIns="0">
            <a:spAutoFit/>
          </a:bodyPr>
          <a:lstStyle/>
          <a:p>
            <a:pPr algn="l">
              <a:lnSpc>
                <a:spcPts val="2875"/>
              </a:lnSpc>
            </a:pPr>
            <a:r>
              <a:rPr lang="en-US" sz="1812">
                <a:solidFill>
                  <a:srgbClr val="3C3939"/>
                </a:solidFill>
                <a:latin typeface="Roboto"/>
                <a:ea typeface="Roboto"/>
                <a:cs typeface="Roboto"/>
                <a:sym typeface="Roboto"/>
              </a:rPr>
              <a:t> Temuan wawancara menjadi dasar fungsionalitas utama EconoMakan: pembayaran digital, notifikasi otomatis, dan fitur laporan keuangan harian.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165917"/>
            <a:ext cx="8126168" cy="803672"/>
          </a:xfrm>
          <a:prstGeom prst="rect">
            <a:avLst/>
          </a:prstGeom>
        </p:spPr>
        <p:txBody>
          <a:bodyPr anchor="t" rtlCol="false" tIns="0" lIns="0" bIns="0" rIns="0">
            <a:spAutoFit/>
          </a:bodyPr>
          <a:lstStyle/>
          <a:p>
            <a:pPr algn="l">
              <a:lnSpc>
                <a:spcPts val="6062"/>
              </a:lnSpc>
            </a:pPr>
            <a:r>
              <a:rPr lang="en-US" sz="4875">
                <a:solidFill>
                  <a:srgbClr val="1B1B27"/>
                </a:solidFill>
                <a:latin typeface="Raleway"/>
                <a:ea typeface="Raleway"/>
                <a:cs typeface="Raleway"/>
                <a:sym typeface="Raleway"/>
              </a:rPr>
              <a:t>Konsep Sistem EconoMakan</a:t>
            </a:r>
          </a:p>
        </p:txBody>
      </p:sp>
      <p:sp>
        <p:nvSpPr>
          <p:cNvPr name="TextBox 9" id="9"/>
          <p:cNvSpPr txBox="true"/>
          <p:nvPr/>
        </p:nvSpPr>
        <p:spPr>
          <a:xfrm rot="0">
            <a:off x="7850238" y="2246414"/>
            <a:ext cx="9445523" cy="1555750"/>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EconoMakan merupakan sistem web yang menjadi jembatan digital antara mahasiswa dan penjual. Nama menggabungkan identitas FEB (Ekonomi) dan aktivitas makan. Fokus desain: mencatat seluruh kustomisasi pesanan (misal. tanpa seledri, ekstra pedas) secara permanen untuk menghindari kesalahan produksi.   </a:t>
            </a:r>
          </a:p>
        </p:txBody>
      </p:sp>
      <p:grpSp>
        <p:nvGrpSpPr>
          <p:cNvPr name="Group 10" id="10"/>
          <p:cNvGrpSpPr/>
          <p:nvPr/>
        </p:nvGrpSpPr>
        <p:grpSpPr>
          <a:xfrm rot="0">
            <a:off x="7845476" y="4203649"/>
            <a:ext cx="2992641" cy="4893621"/>
            <a:chOff x="0" y="0"/>
            <a:chExt cx="3990188" cy="6524828"/>
          </a:xfrm>
        </p:grpSpPr>
        <p:sp>
          <p:nvSpPr>
            <p:cNvPr name="Freeform 11" id="11"/>
            <p:cNvSpPr/>
            <p:nvPr/>
          </p:nvSpPr>
          <p:spPr>
            <a:xfrm flipH="false" flipV="false" rot="0">
              <a:off x="6350" y="6350"/>
              <a:ext cx="3977513" cy="6512052"/>
            </a:xfrm>
            <a:custGeom>
              <a:avLst/>
              <a:gdLst/>
              <a:ahLst/>
              <a:cxnLst/>
              <a:rect r="r" b="b" t="t" l="l"/>
              <a:pathLst>
                <a:path h="6512052" w="3977513">
                  <a:moveTo>
                    <a:pt x="0" y="139065"/>
                  </a:moveTo>
                  <a:cubicBezTo>
                    <a:pt x="0" y="62230"/>
                    <a:pt x="62230" y="0"/>
                    <a:pt x="138938" y="0"/>
                  </a:cubicBezTo>
                  <a:lnTo>
                    <a:pt x="3838575" y="0"/>
                  </a:lnTo>
                  <a:cubicBezTo>
                    <a:pt x="3915283" y="0"/>
                    <a:pt x="3977513" y="62230"/>
                    <a:pt x="3977513" y="139065"/>
                  </a:cubicBezTo>
                  <a:lnTo>
                    <a:pt x="3977513" y="6372987"/>
                  </a:lnTo>
                  <a:cubicBezTo>
                    <a:pt x="3977513" y="6449822"/>
                    <a:pt x="3915283" y="6512052"/>
                    <a:pt x="3838575" y="6512052"/>
                  </a:cubicBezTo>
                  <a:lnTo>
                    <a:pt x="138938" y="6512052"/>
                  </a:lnTo>
                  <a:cubicBezTo>
                    <a:pt x="62230" y="6512179"/>
                    <a:pt x="0" y="6449822"/>
                    <a:pt x="0" y="6372987"/>
                  </a:cubicBezTo>
                  <a:close/>
                </a:path>
              </a:pathLst>
            </a:custGeom>
            <a:solidFill>
              <a:srgbClr val="E1E1EA"/>
            </a:solidFill>
          </p:spPr>
        </p:sp>
        <p:sp>
          <p:nvSpPr>
            <p:cNvPr name="Freeform 12" id="12"/>
            <p:cNvSpPr/>
            <p:nvPr/>
          </p:nvSpPr>
          <p:spPr>
            <a:xfrm flipH="false" flipV="false" rot="0">
              <a:off x="0" y="0"/>
              <a:ext cx="3990213" cy="6524752"/>
            </a:xfrm>
            <a:custGeom>
              <a:avLst/>
              <a:gdLst/>
              <a:ahLst/>
              <a:cxnLst/>
              <a:rect r="r" b="b" t="t" l="l"/>
              <a:pathLst>
                <a:path h="6524752" w="3990213">
                  <a:moveTo>
                    <a:pt x="0" y="145415"/>
                  </a:moveTo>
                  <a:cubicBezTo>
                    <a:pt x="0" y="65151"/>
                    <a:pt x="65024" y="0"/>
                    <a:pt x="145288" y="0"/>
                  </a:cubicBezTo>
                  <a:lnTo>
                    <a:pt x="3844925" y="0"/>
                  </a:lnTo>
                  <a:lnTo>
                    <a:pt x="3844925" y="6350"/>
                  </a:lnTo>
                  <a:lnTo>
                    <a:pt x="3844925" y="0"/>
                  </a:lnTo>
                  <a:cubicBezTo>
                    <a:pt x="3925189" y="0"/>
                    <a:pt x="3990213" y="65151"/>
                    <a:pt x="3990213" y="145415"/>
                  </a:cubicBezTo>
                  <a:lnTo>
                    <a:pt x="3983863" y="145415"/>
                  </a:lnTo>
                  <a:lnTo>
                    <a:pt x="3990213" y="145415"/>
                  </a:lnTo>
                  <a:lnTo>
                    <a:pt x="3990213" y="6379337"/>
                  </a:lnTo>
                  <a:lnTo>
                    <a:pt x="3983863" y="6379337"/>
                  </a:lnTo>
                  <a:lnTo>
                    <a:pt x="3990213" y="6379337"/>
                  </a:lnTo>
                  <a:cubicBezTo>
                    <a:pt x="3990213" y="6459601"/>
                    <a:pt x="3925189" y="6524752"/>
                    <a:pt x="3844925" y="6524752"/>
                  </a:cubicBezTo>
                  <a:lnTo>
                    <a:pt x="3844925" y="6518402"/>
                  </a:lnTo>
                  <a:lnTo>
                    <a:pt x="3844925" y="6524752"/>
                  </a:lnTo>
                  <a:lnTo>
                    <a:pt x="145288" y="6524752"/>
                  </a:lnTo>
                  <a:lnTo>
                    <a:pt x="145288" y="6518402"/>
                  </a:lnTo>
                  <a:lnTo>
                    <a:pt x="145288" y="6524752"/>
                  </a:lnTo>
                  <a:cubicBezTo>
                    <a:pt x="65024" y="6524879"/>
                    <a:pt x="0" y="6459728"/>
                    <a:pt x="0" y="6379337"/>
                  </a:cubicBezTo>
                  <a:lnTo>
                    <a:pt x="0" y="145415"/>
                  </a:lnTo>
                  <a:lnTo>
                    <a:pt x="6350" y="145415"/>
                  </a:lnTo>
                  <a:lnTo>
                    <a:pt x="0" y="145415"/>
                  </a:lnTo>
                  <a:moveTo>
                    <a:pt x="12700" y="145415"/>
                  </a:moveTo>
                  <a:lnTo>
                    <a:pt x="12700" y="6379337"/>
                  </a:lnTo>
                  <a:lnTo>
                    <a:pt x="6350" y="6379337"/>
                  </a:lnTo>
                  <a:lnTo>
                    <a:pt x="12700" y="6379337"/>
                  </a:lnTo>
                  <a:cubicBezTo>
                    <a:pt x="12700" y="6452616"/>
                    <a:pt x="72009" y="6512052"/>
                    <a:pt x="145288" y="6512052"/>
                  </a:cubicBezTo>
                  <a:lnTo>
                    <a:pt x="3844925" y="6512052"/>
                  </a:lnTo>
                  <a:cubicBezTo>
                    <a:pt x="3918204" y="6512052"/>
                    <a:pt x="3977513" y="6452616"/>
                    <a:pt x="3977513" y="6379337"/>
                  </a:cubicBezTo>
                  <a:lnTo>
                    <a:pt x="3977513" y="145415"/>
                  </a:lnTo>
                  <a:cubicBezTo>
                    <a:pt x="3977513" y="72136"/>
                    <a:pt x="3918077" y="12700"/>
                    <a:pt x="3844925" y="12700"/>
                  </a:cubicBezTo>
                  <a:lnTo>
                    <a:pt x="145288" y="12700"/>
                  </a:lnTo>
                  <a:lnTo>
                    <a:pt x="145288" y="6350"/>
                  </a:lnTo>
                  <a:lnTo>
                    <a:pt x="145288" y="12700"/>
                  </a:lnTo>
                  <a:cubicBezTo>
                    <a:pt x="72009" y="12700"/>
                    <a:pt x="12700" y="72136"/>
                    <a:pt x="12700" y="145415"/>
                  </a:cubicBezTo>
                  <a:close/>
                </a:path>
              </a:pathLst>
            </a:custGeom>
            <a:solidFill>
              <a:srgbClr val="C7C7D0"/>
            </a:solidFill>
          </p:spPr>
        </p:sp>
      </p:grpSp>
      <p:sp>
        <p:nvSpPr>
          <p:cNvPr name="TextBox 13" id="13"/>
          <p:cNvSpPr txBox="true"/>
          <p:nvPr/>
        </p:nvSpPr>
        <p:spPr>
          <a:xfrm rot="0">
            <a:off x="8107709" y="4446832"/>
            <a:ext cx="2468166"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Tujuan Utama</a:t>
            </a:r>
          </a:p>
        </p:txBody>
      </p:sp>
      <p:sp>
        <p:nvSpPr>
          <p:cNvPr name="TextBox 14" id="14"/>
          <p:cNvSpPr txBox="true"/>
          <p:nvPr/>
        </p:nvSpPr>
        <p:spPr>
          <a:xfrm rot="0">
            <a:off x="8107709" y="4907166"/>
            <a:ext cx="2468166" cy="3508375"/>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Menata transaksi pemesanan agar terstruktur, mengurangi miskomunikasi, mempercepat layanan, dan menyajikan laporan penjualan otomatis.       </a:t>
            </a:r>
          </a:p>
        </p:txBody>
      </p:sp>
      <p:grpSp>
        <p:nvGrpSpPr>
          <p:cNvPr name="Group 15" id="15"/>
          <p:cNvGrpSpPr/>
          <p:nvPr/>
        </p:nvGrpSpPr>
        <p:grpSpPr>
          <a:xfrm rot="0">
            <a:off x="11076537" y="4203649"/>
            <a:ext cx="2992784" cy="4893621"/>
            <a:chOff x="0" y="0"/>
            <a:chExt cx="3990378" cy="6524828"/>
          </a:xfrm>
        </p:grpSpPr>
        <p:sp>
          <p:nvSpPr>
            <p:cNvPr name="Freeform 16" id="16"/>
            <p:cNvSpPr/>
            <p:nvPr/>
          </p:nvSpPr>
          <p:spPr>
            <a:xfrm flipH="false" flipV="false" rot="0">
              <a:off x="6350" y="6350"/>
              <a:ext cx="3977640" cy="6512052"/>
            </a:xfrm>
            <a:custGeom>
              <a:avLst/>
              <a:gdLst/>
              <a:ahLst/>
              <a:cxnLst/>
              <a:rect r="r" b="b" t="t" l="l"/>
              <a:pathLst>
                <a:path h="6512052" w="3977640">
                  <a:moveTo>
                    <a:pt x="0" y="139065"/>
                  </a:moveTo>
                  <a:cubicBezTo>
                    <a:pt x="0" y="62230"/>
                    <a:pt x="62230" y="0"/>
                    <a:pt x="138938" y="0"/>
                  </a:cubicBezTo>
                  <a:lnTo>
                    <a:pt x="3838702" y="0"/>
                  </a:lnTo>
                  <a:cubicBezTo>
                    <a:pt x="3915410" y="0"/>
                    <a:pt x="3977640" y="62230"/>
                    <a:pt x="3977640" y="139065"/>
                  </a:cubicBezTo>
                  <a:lnTo>
                    <a:pt x="3977640" y="6372987"/>
                  </a:lnTo>
                  <a:cubicBezTo>
                    <a:pt x="3977640" y="6449822"/>
                    <a:pt x="3915410" y="6512052"/>
                    <a:pt x="3838702" y="6512052"/>
                  </a:cubicBezTo>
                  <a:lnTo>
                    <a:pt x="138938" y="6512052"/>
                  </a:lnTo>
                  <a:cubicBezTo>
                    <a:pt x="62230" y="6512179"/>
                    <a:pt x="0" y="6449822"/>
                    <a:pt x="0" y="6372987"/>
                  </a:cubicBezTo>
                  <a:close/>
                </a:path>
              </a:pathLst>
            </a:custGeom>
            <a:solidFill>
              <a:srgbClr val="E1E1EA"/>
            </a:solidFill>
          </p:spPr>
        </p:sp>
        <p:sp>
          <p:nvSpPr>
            <p:cNvPr name="Freeform 17" id="17"/>
            <p:cNvSpPr/>
            <p:nvPr/>
          </p:nvSpPr>
          <p:spPr>
            <a:xfrm flipH="false" flipV="false" rot="0">
              <a:off x="0" y="0"/>
              <a:ext cx="3990340" cy="6524752"/>
            </a:xfrm>
            <a:custGeom>
              <a:avLst/>
              <a:gdLst/>
              <a:ahLst/>
              <a:cxnLst/>
              <a:rect r="r" b="b" t="t" l="l"/>
              <a:pathLst>
                <a:path h="6524752" w="3990340">
                  <a:moveTo>
                    <a:pt x="0" y="145415"/>
                  </a:moveTo>
                  <a:cubicBezTo>
                    <a:pt x="0" y="65151"/>
                    <a:pt x="65024" y="0"/>
                    <a:pt x="145288" y="0"/>
                  </a:cubicBezTo>
                  <a:lnTo>
                    <a:pt x="3845052" y="0"/>
                  </a:lnTo>
                  <a:lnTo>
                    <a:pt x="3845052" y="6350"/>
                  </a:lnTo>
                  <a:lnTo>
                    <a:pt x="3845052" y="0"/>
                  </a:lnTo>
                  <a:cubicBezTo>
                    <a:pt x="3925316" y="0"/>
                    <a:pt x="3990340" y="65151"/>
                    <a:pt x="3990340" y="145415"/>
                  </a:cubicBezTo>
                  <a:lnTo>
                    <a:pt x="3983990" y="145415"/>
                  </a:lnTo>
                  <a:lnTo>
                    <a:pt x="3990340" y="145415"/>
                  </a:lnTo>
                  <a:lnTo>
                    <a:pt x="3990340" y="6379337"/>
                  </a:lnTo>
                  <a:lnTo>
                    <a:pt x="3983990" y="6379337"/>
                  </a:lnTo>
                  <a:lnTo>
                    <a:pt x="3990340" y="6379337"/>
                  </a:lnTo>
                  <a:cubicBezTo>
                    <a:pt x="3990340" y="6459728"/>
                    <a:pt x="3925316" y="6524752"/>
                    <a:pt x="3845052" y="6524752"/>
                  </a:cubicBezTo>
                  <a:lnTo>
                    <a:pt x="3845052" y="6518402"/>
                  </a:lnTo>
                  <a:lnTo>
                    <a:pt x="3845052" y="6524752"/>
                  </a:lnTo>
                  <a:lnTo>
                    <a:pt x="145288" y="6524752"/>
                  </a:lnTo>
                  <a:lnTo>
                    <a:pt x="145288" y="6518402"/>
                  </a:lnTo>
                  <a:lnTo>
                    <a:pt x="145288" y="6524752"/>
                  </a:lnTo>
                  <a:cubicBezTo>
                    <a:pt x="65024" y="6524879"/>
                    <a:pt x="0" y="6459728"/>
                    <a:pt x="0" y="6379337"/>
                  </a:cubicBezTo>
                  <a:lnTo>
                    <a:pt x="0" y="145415"/>
                  </a:lnTo>
                  <a:lnTo>
                    <a:pt x="6350" y="145415"/>
                  </a:lnTo>
                  <a:lnTo>
                    <a:pt x="0" y="145415"/>
                  </a:lnTo>
                  <a:moveTo>
                    <a:pt x="12700" y="145415"/>
                  </a:moveTo>
                  <a:lnTo>
                    <a:pt x="12700" y="6379337"/>
                  </a:lnTo>
                  <a:lnTo>
                    <a:pt x="6350" y="6379337"/>
                  </a:lnTo>
                  <a:lnTo>
                    <a:pt x="12700" y="6379337"/>
                  </a:lnTo>
                  <a:cubicBezTo>
                    <a:pt x="12700" y="6452616"/>
                    <a:pt x="72009" y="6512052"/>
                    <a:pt x="145288" y="6512052"/>
                  </a:cubicBezTo>
                  <a:lnTo>
                    <a:pt x="3845052" y="6512052"/>
                  </a:lnTo>
                  <a:cubicBezTo>
                    <a:pt x="3918331" y="6512052"/>
                    <a:pt x="3977640" y="6452616"/>
                    <a:pt x="3977640" y="6379337"/>
                  </a:cubicBezTo>
                  <a:lnTo>
                    <a:pt x="3977640" y="145415"/>
                  </a:lnTo>
                  <a:cubicBezTo>
                    <a:pt x="3977640" y="72136"/>
                    <a:pt x="3918331" y="12700"/>
                    <a:pt x="3845052" y="12700"/>
                  </a:cubicBezTo>
                  <a:lnTo>
                    <a:pt x="145288" y="12700"/>
                  </a:lnTo>
                  <a:lnTo>
                    <a:pt x="145288" y="6350"/>
                  </a:lnTo>
                  <a:lnTo>
                    <a:pt x="145288" y="12700"/>
                  </a:lnTo>
                  <a:cubicBezTo>
                    <a:pt x="72009" y="12700"/>
                    <a:pt x="12700" y="72136"/>
                    <a:pt x="12700" y="145415"/>
                  </a:cubicBezTo>
                  <a:close/>
                </a:path>
              </a:pathLst>
            </a:custGeom>
            <a:solidFill>
              <a:srgbClr val="C7C7D0"/>
            </a:solidFill>
          </p:spPr>
        </p:sp>
      </p:grpSp>
      <p:sp>
        <p:nvSpPr>
          <p:cNvPr name="TextBox 18" id="18"/>
          <p:cNvSpPr txBox="true"/>
          <p:nvPr/>
        </p:nvSpPr>
        <p:spPr>
          <a:xfrm rot="0">
            <a:off x="11338770" y="4446832"/>
            <a:ext cx="2468318"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Fitur Kunci</a:t>
            </a:r>
          </a:p>
        </p:txBody>
      </p:sp>
      <p:sp>
        <p:nvSpPr>
          <p:cNvPr name="TextBox 19" id="19"/>
          <p:cNvSpPr txBox="true"/>
          <p:nvPr/>
        </p:nvSpPr>
        <p:spPr>
          <a:xfrm rot="0">
            <a:off x="11338770" y="4907166"/>
            <a:ext cx="2468318" cy="3927872"/>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3C3939"/>
                </a:solidFill>
                <a:latin typeface="Roboto"/>
                <a:ea typeface="Roboto"/>
                <a:cs typeface="Roboto"/>
                <a:sym typeface="Roboto"/>
              </a:rPr>
              <a:t>Form pemesanan dengan catatan khusus</a:t>
            </a:r>
          </a:p>
          <a:p>
            <a:pPr algn="l" marL="292199" indent="-146100" lvl="1">
              <a:lnSpc>
                <a:spcPts val="3125"/>
              </a:lnSpc>
              <a:buFont typeface="Arial"/>
              <a:buChar char="•"/>
            </a:pPr>
            <a:r>
              <a:rPr lang="en-US" sz="1937">
                <a:solidFill>
                  <a:srgbClr val="3C3939"/>
                </a:solidFill>
                <a:latin typeface="Roboto"/>
                <a:ea typeface="Roboto"/>
                <a:cs typeface="Roboto"/>
                <a:sym typeface="Roboto"/>
              </a:rPr>
              <a:t>Integrasi pembayaran QRIS</a:t>
            </a:r>
          </a:p>
          <a:p>
            <a:pPr algn="l" marL="292199" indent="-146100" lvl="1">
              <a:lnSpc>
                <a:spcPts val="3125"/>
              </a:lnSpc>
              <a:buFont typeface="Arial"/>
              <a:buChar char="•"/>
            </a:pPr>
            <a:r>
              <a:rPr lang="en-US" sz="1937">
                <a:solidFill>
                  <a:srgbClr val="3C3939"/>
                </a:solidFill>
                <a:latin typeface="Roboto"/>
                <a:ea typeface="Roboto"/>
                <a:cs typeface="Roboto"/>
                <a:sym typeface="Roboto"/>
              </a:rPr>
              <a:t>Notifikasi otomatis saat siap</a:t>
            </a:r>
          </a:p>
          <a:p>
            <a:pPr algn="l" marL="292199" indent="-146100" lvl="1">
              <a:lnSpc>
                <a:spcPts val="3125"/>
              </a:lnSpc>
              <a:buFont typeface="Arial"/>
              <a:buChar char="•"/>
            </a:pPr>
            <a:r>
              <a:rPr lang="en-US" sz="1937">
                <a:solidFill>
                  <a:srgbClr val="3C3939"/>
                </a:solidFill>
                <a:latin typeface="Roboto"/>
                <a:ea typeface="Roboto"/>
                <a:cs typeface="Roboto"/>
                <a:sym typeface="Roboto"/>
              </a:rPr>
              <a:t>Rekap pendapatan harian</a:t>
            </a:r>
          </a:p>
        </p:txBody>
      </p:sp>
      <p:grpSp>
        <p:nvGrpSpPr>
          <p:cNvPr name="Group 20" id="20"/>
          <p:cNvGrpSpPr/>
          <p:nvPr/>
        </p:nvGrpSpPr>
        <p:grpSpPr>
          <a:xfrm rot="0">
            <a:off x="14307741" y="4203649"/>
            <a:ext cx="2992784" cy="4893621"/>
            <a:chOff x="0" y="0"/>
            <a:chExt cx="3990378" cy="6524828"/>
          </a:xfrm>
        </p:grpSpPr>
        <p:sp>
          <p:nvSpPr>
            <p:cNvPr name="Freeform 21" id="21"/>
            <p:cNvSpPr/>
            <p:nvPr/>
          </p:nvSpPr>
          <p:spPr>
            <a:xfrm flipH="false" flipV="false" rot="0">
              <a:off x="6350" y="6350"/>
              <a:ext cx="3977640" cy="6512052"/>
            </a:xfrm>
            <a:custGeom>
              <a:avLst/>
              <a:gdLst/>
              <a:ahLst/>
              <a:cxnLst/>
              <a:rect r="r" b="b" t="t" l="l"/>
              <a:pathLst>
                <a:path h="6512052" w="3977640">
                  <a:moveTo>
                    <a:pt x="0" y="139065"/>
                  </a:moveTo>
                  <a:cubicBezTo>
                    <a:pt x="0" y="62230"/>
                    <a:pt x="62230" y="0"/>
                    <a:pt x="138938" y="0"/>
                  </a:cubicBezTo>
                  <a:lnTo>
                    <a:pt x="3838702" y="0"/>
                  </a:lnTo>
                  <a:cubicBezTo>
                    <a:pt x="3915410" y="0"/>
                    <a:pt x="3977640" y="62230"/>
                    <a:pt x="3977640" y="139065"/>
                  </a:cubicBezTo>
                  <a:lnTo>
                    <a:pt x="3977640" y="6372987"/>
                  </a:lnTo>
                  <a:cubicBezTo>
                    <a:pt x="3977640" y="6449822"/>
                    <a:pt x="3915410" y="6512052"/>
                    <a:pt x="3838702" y="6512052"/>
                  </a:cubicBezTo>
                  <a:lnTo>
                    <a:pt x="138938" y="6512052"/>
                  </a:lnTo>
                  <a:cubicBezTo>
                    <a:pt x="62230" y="6512179"/>
                    <a:pt x="0" y="6449822"/>
                    <a:pt x="0" y="6372987"/>
                  </a:cubicBezTo>
                  <a:close/>
                </a:path>
              </a:pathLst>
            </a:custGeom>
            <a:solidFill>
              <a:srgbClr val="E1E1EA"/>
            </a:solidFill>
          </p:spPr>
        </p:sp>
        <p:sp>
          <p:nvSpPr>
            <p:cNvPr name="Freeform 22" id="22"/>
            <p:cNvSpPr/>
            <p:nvPr/>
          </p:nvSpPr>
          <p:spPr>
            <a:xfrm flipH="false" flipV="false" rot="0">
              <a:off x="0" y="0"/>
              <a:ext cx="3990340" cy="6524752"/>
            </a:xfrm>
            <a:custGeom>
              <a:avLst/>
              <a:gdLst/>
              <a:ahLst/>
              <a:cxnLst/>
              <a:rect r="r" b="b" t="t" l="l"/>
              <a:pathLst>
                <a:path h="6524752" w="3990340">
                  <a:moveTo>
                    <a:pt x="0" y="145415"/>
                  </a:moveTo>
                  <a:cubicBezTo>
                    <a:pt x="0" y="65151"/>
                    <a:pt x="65024" y="0"/>
                    <a:pt x="145288" y="0"/>
                  </a:cubicBezTo>
                  <a:lnTo>
                    <a:pt x="3845052" y="0"/>
                  </a:lnTo>
                  <a:lnTo>
                    <a:pt x="3845052" y="6350"/>
                  </a:lnTo>
                  <a:lnTo>
                    <a:pt x="3845052" y="0"/>
                  </a:lnTo>
                  <a:cubicBezTo>
                    <a:pt x="3925316" y="0"/>
                    <a:pt x="3990340" y="65151"/>
                    <a:pt x="3990340" y="145415"/>
                  </a:cubicBezTo>
                  <a:lnTo>
                    <a:pt x="3983990" y="145415"/>
                  </a:lnTo>
                  <a:lnTo>
                    <a:pt x="3990340" y="145415"/>
                  </a:lnTo>
                  <a:lnTo>
                    <a:pt x="3990340" y="6379337"/>
                  </a:lnTo>
                  <a:lnTo>
                    <a:pt x="3983990" y="6379337"/>
                  </a:lnTo>
                  <a:lnTo>
                    <a:pt x="3990340" y="6379337"/>
                  </a:lnTo>
                  <a:cubicBezTo>
                    <a:pt x="3990340" y="6459728"/>
                    <a:pt x="3925316" y="6524752"/>
                    <a:pt x="3845052" y="6524752"/>
                  </a:cubicBezTo>
                  <a:lnTo>
                    <a:pt x="3845052" y="6518402"/>
                  </a:lnTo>
                  <a:lnTo>
                    <a:pt x="3845052" y="6524752"/>
                  </a:lnTo>
                  <a:lnTo>
                    <a:pt x="145288" y="6524752"/>
                  </a:lnTo>
                  <a:lnTo>
                    <a:pt x="145288" y="6518402"/>
                  </a:lnTo>
                  <a:lnTo>
                    <a:pt x="145288" y="6524752"/>
                  </a:lnTo>
                  <a:cubicBezTo>
                    <a:pt x="65024" y="6524879"/>
                    <a:pt x="0" y="6459728"/>
                    <a:pt x="0" y="6379337"/>
                  </a:cubicBezTo>
                  <a:lnTo>
                    <a:pt x="0" y="145415"/>
                  </a:lnTo>
                  <a:lnTo>
                    <a:pt x="6350" y="145415"/>
                  </a:lnTo>
                  <a:lnTo>
                    <a:pt x="0" y="145415"/>
                  </a:lnTo>
                  <a:moveTo>
                    <a:pt x="12700" y="145415"/>
                  </a:moveTo>
                  <a:lnTo>
                    <a:pt x="12700" y="6379337"/>
                  </a:lnTo>
                  <a:lnTo>
                    <a:pt x="6350" y="6379337"/>
                  </a:lnTo>
                  <a:lnTo>
                    <a:pt x="12700" y="6379337"/>
                  </a:lnTo>
                  <a:cubicBezTo>
                    <a:pt x="12700" y="6452616"/>
                    <a:pt x="72009" y="6512052"/>
                    <a:pt x="145288" y="6512052"/>
                  </a:cubicBezTo>
                  <a:lnTo>
                    <a:pt x="3845052" y="6512052"/>
                  </a:lnTo>
                  <a:cubicBezTo>
                    <a:pt x="3918331" y="6512052"/>
                    <a:pt x="3977640" y="6452616"/>
                    <a:pt x="3977640" y="6379337"/>
                  </a:cubicBezTo>
                  <a:lnTo>
                    <a:pt x="3977640" y="145415"/>
                  </a:lnTo>
                  <a:cubicBezTo>
                    <a:pt x="3977640" y="72136"/>
                    <a:pt x="3918331" y="12700"/>
                    <a:pt x="3845052" y="12700"/>
                  </a:cubicBezTo>
                  <a:lnTo>
                    <a:pt x="145288" y="12700"/>
                  </a:lnTo>
                  <a:lnTo>
                    <a:pt x="145288" y="6350"/>
                  </a:lnTo>
                  <a:lnTo>
                    <a:pt x="145288" y="12700"/>
                  </a:lnTo>
                  <a:cubicBezTo>
                    <a:pt x="72009" y="12700"/>
                    <a:pt x="12700" y="72136"/>
                    <a:pt x="12700" y="145415"/>
                  </a:cubicBezTo>
                  <a:close/>
                </a:path>
              </a:pathLst>
            </a:custGeom>
            <a:solidFill>
              <a:srgbClr val="C7C7D0"/>
            </a:solidFill>
          </p:spPr>
        </p:sp>
      </p:grpSp>
      <p:sp>
        <p:nvSpPr>
          <p:cNvPr name="TextBox 23" id="23"/>
          <p:cNvSpPr txBox="true"/>
          <p:nvPr/>
        </p:nvSpPr>
        <p:spPr>
          <a:xfrm rot="0">
            <a:off x="14569973" y="4446832"/>
            <a:ext cx="2468318"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Manfaat Bisnis</a:t>
            </a:r>
          </a:p>
        </p:txBody>
      </p:sp>
      <p:sp>
        <p:nvSpPr>
          <p:cNvPr name="TextBox 24" id="24"/>
          <p:cNvSpPr txBox="true"/>
          <p:nvPr/>
        </p:nvSpPr>
        <p:spPr>
          <a:xfrm rot="0">
            <a:off x="14569973" y="4907166"/>
            <a:ext cx="2468318" cy="2873721"/>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Efisiensi operasional, pengurangan antrian, pengurangan kesalahan pesanan, dan pemilik mendapat data penjualan terstruktur.</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976760" y="706336"/>
            <a:ext cx="9398203" cy="801138"/>
          </a:xfrm>
          <a:prstGeom prst="rect">
            <a:avLst/>
          </a:prstGeom>
        </p:spPr>
        <p:txBody>
          <a:bodyPr anchor="t" rtlCol="false" tIns="0" lIns="0" bIns="0" rIns="0">
            <a:spAutoFit/>
          </a:bodyPr>
          <a:lstStyle/>
          <a:p>
            <a:pPr algn="l">
              <a:lnSpc>
                <a:spcPts val="6000"/>
              </a:lnSpc>
            </a:pPr>
            <a:r>
              <a:rPr lang="en-US" sz="4750">
                <a:solidFill>
                  <a:srgbClr val="1B1B27"/>
                </a:solidFill>
                <a:latin typeface="Raleway"/>
                <a:ea typeface="Raleway"/>
                <a:cs typeface="Raleway"/>
                <a:sym typeface="Raleway"/>
              </a:rPr>
              <a:t>Mekanisme Order &amp; Antrean FIFO</a:t>
            </a:r>
          </a:p>
        </p:txBody>
      </p:sp>
      <p:sp>
        <p:nvSpPr>
          <p:cNvPr name="TextBox 7" id="7"/>
          <p:cNvSpPr txBox="true"/>
          <p:nvPr/>
        </p:nvSpPr>
        <p:spPr>
          <a:xfrm rot="0">
            <a:off x="976760" y="1902466"/>
            <a:ext cx="16334480" cy="1248813"/>
          </a:xfrm>
          <a:prstGeom prst="rect">
            <a:avLst/>
          </a:prstGeom>
        </p:spPr>
        <p:txBody>
          <a:bodyPr anchor="t" rtlCol="false" tIns="0" lIns="0" bIns="0" rIns="0">
            <a:spAutoFit/>
          </a:bodyPr>
          <a:lstStyle/>
          <a:p>
            <a:pPr algn="l">
              <a:lnSpc>
                <a:spcPts val="3000"/>
              </a:lnSpc>
            </a:pPr>
            <a:r>
              <a:rPr lang="en-US" sz="1874">
                <a:solidFill>
                  <a:srgbClr val="3C3939"/>
                </a:solidFill>
                <a:latin typeface="Roboto"/>
                <a:ea typeface="Roboto"/>
                <a:cs typeface="Roboto"/>
                <a:sym typeface="Roboto"/>
              </a:rPr>
              <a:t>     Alur utama: Mahasiswa menginput pesanan melalui aplikasi web yang mencatat menu, waktu pemesanan, dan catatan khusus. Sistem memasukkan setiap pesanan ke antrean berdasarkan waktu masuk (First In First Out) untuk memastikan keadilan layanan dan mengatur prioritas produksi.   </a:t>
            </a:r>
          </a:p>
        </p:txBody>
      </p:sp>
      <p:grpSp>
        <p:nvGrpSpPr>
          <p:cNvPr name="Group 8" id="8"/>
          <p:cNvGrpSpPr/>
          <p:nvPr/>
        </p:nvGrpSpPr>
        <p:grpSpPr>
          <a:xfrm rot="0">
            <a:off x="971998" y="3783216"/>
            <a:ext cx="8056512" cy="253603"/>
            <a:chOff x="0" y="0"/>
            <a:chExt cx="10742016" cy="338138"/>
          </a:xfrm>
        </p:grpSpPr>
        <p:sp>
          <p:nvSpPr>
            <p:cNvPr name="Freeform 9" id="9"/>
            <p:cNvSpPr/>
            <p:nvPr/>
          </p:nvSpPr>
          <p:spPr>
            <a:xfrm flipH="false" flipV="false" rot="0">
              <a:off x="6350" y="6350"/>
              <a:ext cx="10729341" cy="325501"/>
            </a:xfrm>
            <a:custGeom>
              <a:avLst/>
              <a:gdLst/>
              <a:ahLst/>
              <a:cxnLst/>
              <a:rect r="r" b="b" t="t" l="l"/>
              <a:pathLst>
                <a:path h="325501" w="10729341">
                  <a:moveTo>
                    <a:pt x="0" y="136779"/>
                  </a:moveTo>
                  <a:cubicBezTo>
                    <a:pt x="0" y="61214"/>
                    <a:pt x="63500" y="0"/>
                    <a:pt x="141986" y="0"/>
                  </a:cubicBezTo>
                  <a:lnTo>
                    <a:pt x="10587355" y="0"/>
                  </a:lnTo>
                  <a:cubicBezTo>
                    <a:pt x="10665714" y="0"/>
                    <a:pt x="10729341" y="61214"/>
                    <a:pt x="10729341" y="136779"/>
                  </a:cubicBezTo>
                  <a:lnTo>
                    <a:pt x="10729341" y="188722"/>
                  </a:lnTo>
                  <a:cubicBezTo>
                    <a:pt x="10729341" y="264287"/>
                    <a:pt x="10665841" y="325501"/>
                    <a:pt x="10587355" y="325501"/>
                  </a:cubicBezTo>
                  <a:lnTo>
                    <a:pt x="141986" y="325501"/>
                  </a:lnTo>
                  <a:cubicBezTo>
                    <a:pt x="63500" y="325374"/>
                    <a:pt x="0" y="264160"/>
                    <a:pt x="0" y="188722"/>
                  </a:cubicBezTo>
                  <a:close/>
                </a:path>
              </a:pathLst>
            </a:custGeom>
            <a:solidFill>
              <a:srgbClr val="E1E1EA"/>
            </a:solidFill>
          </p:spPr>
        </p:sp>
        <p:sp>
          <p:nvSpPr>
            <p:cNvPr name="Freeform 10" id="10"/>
            <p:cNvSpPr/>
            <p:nvPr/>
          </p:nvSpPr>
          <p:spPr>
            <a:xfrm flipH="false" flipV="false" rot="0">
              <a:off x="0" y="0"/>
              <a:ext cx="10742041" cy="338201"/>
            </a:xfrm>
            <a:custGeom>
              <a:avLst/>
              <a:gdLst/>
              <a:ahLst/>
              <a:cxnLst/>
              <a:rect r="r" b="b" t="t" l="l"/>
              <a:pathLst>
                <a:path h="338201" w="10742041">
                  <a:moveTo>
                    <a:pt x="0" y="143129"/>
                  </a:moveTo>
                  <a:cubicBezTo>
                    <a:pt x="0" y="63881"/>
                    <a:pt x="66675" y="0"/>
                    <a:pt x="148336" y="0"/>
                  </a:cubicBezTo>
                  <a:lnTo>
                    <a:pt x="10593705" y="0"/>
                  </a:lnTo>
                  <a:lnTo>
                    <a:pt x="10593705" y="6350"/>
                  </a:lnTo>
                  <a:lnTo>
                    <a:pt x="10593705" y="0"/>
                  </a:lnTo>
                  <a:cubicBezTo>
                    <a:pt x="10675366" y="0"/>
                    <a:pt x="10742041" y="63881"/>
                    <a:pt x="10742041" y="143129"/>
                  </a:cubicBezTo>
                  <a:lnTo>
                    <a:pt x="10742041" y="195072"/>
                  </a:lnTo>
                  <a:lnTo>
                    <a:pt x="10735691" y="195072"/>
                  </a:lnTo>
                  <a:lnTo>
                    <a:pt x="10742041" y="195072"/>
                  </a:lnTo>
                  <a:cubicBezTo>
                    <a:pt x="10742041" y="274320"/>
                    <a:pt x="10675366" y="338201"/>
                    <a:pt x="10593705" y="338201"/>
                  </a:cubicBezTo>
                  <a:lnTo>
                    <a:pt x="10593705" y="331851"/>
                  </a:lnTo>
                  <a:lnTo>
                    <a:pt x="10593705" y="338201"/>
                  </a:lnTo>
                  <a:lnTo>
                    <a:pt x="148336" y="338201"/>
                  </a:lnTo>
                  <a:lnTo>
                    <a:pt x="148336" y="331851"/>
                  </a:lnTo>
                  <a:lnTo>
                    <a:pt x="148336" y="338201"/>
                  </a:lnTo>
                  <a:cubicBezTo>
                    <a:pt x="66675" y="338074"/>
                    <a:pt x="0" y="274320"/>
                    <a:pt x="0" y="195072"/>
                  </a:cubicBezTo>
                  <a:lnTo>
                    <a:pt x="0" y="143129"/>
                  </a:lnTo>
                  <a:lnTo>
                    <a:pt x="6350" y="143129"/>
                  </a:lnTo>
                  <a:lnTo>
                    <a:pt x="0" y="143129"/>
                  </a:lnTo>
                  <a:moveTo>
                    <a:pt x="12700" y="143129"/>
                  </a:moveTo>
                  <a:lnTo>
                    <a:pt x="12700" y="195072"/>
                  </a:lnTo>
                  <a:lnTo>
                    <a:pt x="6350" y="195072"/>
                  </a:lnTo>
                  <a:lnTo>
                    <a:pt x="12700" y="195072"/>
                  </a:lnTo>
                  <a:cubicBezTo>
                    <a:pt x="12700" y="266827"/>
                    <a:pt x="73152" y="325501"/>
                    <a:pt x="148336" y="325501"/>
                  </a:cubicBezTo>
                  <a:lnTo>
                    <a:pt x="10593705" y="325501"/>
                  </a:lnTo>
                  <a:cubicBezTo>
                    <a:pt x="10668762" y="325501"/>
                    <a:pt x="10729341" y="266954"/>
                    <a:pt x="10729341" y="195072"/>
                  </a:cubicBezTo>
                  <a:lnTo>
                    <a:pt x="10729341" y="143129"/>
                  </a:lnTo>
                  <a:lnTo>
                    <a:pt x="10735691" y="143129"/>
                  </a:lnTo>
                  <a:lnTo>
                    <a:pt x="10729341" y="143129"/>
                  </a:lnTo>
                  <a:cubicBezTo>
                    <a:pt x="10729341" y="71247"/>
                    <a:pt x="10668889" y="12700"/>
                    <a:pt x="10593705" y="12700"/>
                  </a:cubicBezTo>
                  <a:lnTo>
                    <a:pt x="148336" y="12700"/>
                  </a:lnTo>
                  <a:lnTo>
                    <a:pt x="148336" y="6350"/>
                  </a:lnTo>
                  <a:lnTo>
                    <a:pt x="148336" y="12700"/>
                  </a:lnTo>
                  <a:cubicBezTo>
                    <a:pt x="73152" y="12700"/>
                    <a:pt x="12700" y="71247"/>
                    <a:pt x="12700" y="143129"/>
                  </a:cubicBezTo>
                  <a:close/>
                </a:path>
              </a:pathLst>
            </a:custGeom>
            <a:solidFill>
              <a:srgbClr val="C7C7D0"/>
            </a:solidFill>
          </p:spPr>
        </p:sp>
      </p:grpSp>
      <p:sp>
        <p:nvSpPr>
          <p:cNvPr name="TextBox 11" id="11"/>
          <p:cNvSpPr txBox="true"/>
          <p:nvPr/>
        </p:nvSpPr>
        <p:spPr>
          <a:xfrm rot="0">
            <a:off x="1220838" y="4243835"/>
            <a:ext cx="3052610" cy="410023"/>
          </a:xfrm>
          <a:prstGeom prst="rect">
            <a:avLst/>
          </a:prstGeom>
        </p:spPr>
        <p:txBody>
          <a:bodyPr anchor="t" rtlCol="false" tIns="0" lIns="0" bIns="0" rIns="0">
            <a:spAutoFit/>
          </a:bodyPr>
          <a:lstStyle/>
          <a:p>
            <a:pPr algn="l">
              <a:lnSpc>
                <a:spcPts val="3000"/>
              </a:lnSpc>
            </a:pPr>
            <a:r>
              <a:rPr lang="en-US" sz="2375">
                <a:solidFill>
                  <a:srgbClr val="3C3939"/>
                </a:solidFill>
                <a:latin typeface="Raleway"/>
                <a:ea typeface="Raleway"/>
                <a:cs typeface="Raleway"/>
                <a:sym typeface="Raleway"/>
              </a:rPr>
              <a:t>1. Input Pesanan</a:t>
            </a:r>
          </a:p>
        </p:txBody>
      </p:sp>
      <p:sp>
        <p:nvSpPr>
          <p:cNvPr name="TextBox 12" id="12"/>
          <p:cNvSpPr txBox="true"/>
          <p:nvPr/>
        </p:nvSpPr>
        <p:spPr>
          <a:xfrm rot="0">
            <a:off x="1220838" y="4712341"/>
            <a:ext cx="7558830" cy="861117"/>
          </a:xfrm>
          <a:prstGeom prst="rect">
            <a:avLst/>
          </a:prstGeom>
        </p:spPr>
        <p:txBody>
          <a:bodyPr anchor="t" rtlCol="false" tIns="0" lIns="0" bIns="0" rIns="0">
            <a:spAutoFit/>
          </a:bodyPr>
          <a:lstStyle/>
          <a:p>
            <a:pPr algn="l">
              <a:lnSpc>
                <a:spcPts val="3000"/>
              </a:lnSpc>
            </a:pPr>
            <a:r>
              <a:rPr lang="en-US" sz="1874">
                <a:solidFill>
                  <a:srgbClr val="3C3939"/>
                </a:solidFill>
                <a:latin typeface="Roboto"/>
                <a:ea typeface="Roboto"/>
                <a:cs typeface="Roboto"/>
                <a:sym typeface="Roboto"/>
              </a:rPr>
              <a:t>         Pelanggan memilih menu, menambahkan kustomisasi, memilih metode pembayaran (QRIS), kemudian mengirim pesanan.       </a:t>
            </a:r>
          </a:p>
        </p:txBody>
      </p:sp>
      <p:grpSp>
        <p:nvGrpSpPr>
          <p:cNvPr name="Group 13" id="13"/>
          <p:cNvGrpSpPr/>
          <p:nvPr/>
        </p:nvGrpSpPr>
        <p:grpSpPr>
          <a:xfrm rot="0">
            <a:off x="9259338" y="3416941"/>
            <a:ext cx="8056664" cy="253603"/>
            <a:chOff x="0" y="0"/>
            <a:chExt cx="10742219" cy="338138"/>
          </a:xfrm>
        </p:grpSpPr>
        <p:sp>
          <p:nvSpPr>
            <p:cNvPr name="Freeform 14" id="14"/>
            <p:cNvSpPr/>
            <p:nvPr/>
          </p:nvSpPr>
          <p:spPr>
            <a:xfrm flipH="false" flipV="false" rot="0">
              <a:off x="6350" y="6350"/>
              <a:ext cx="10729595" cy="325501"/>
            </a:xfrm>
            <a:custGeom>
              <a:avLst/>
              <a:gdLst/>
              <a:ahLst/>
              <a:cxnLst/>
              <a:rect r="r" b="b" t="t" l="l"/>
              <a:pathLst>
                <a:path h="325501" w="10729595">
                  <a:moveTo>
                    <a:pt x="0" y="136779"/>
                  </a:moveTo>
                  <a:cubicBezTo>
                    <a:pt x="0" y="61214"/>
                    <a:pt x="63500" y="0"/>
                    <a:pt x="141986" y="0"/>
                  </a:cubicBezTo>
                  <a:lnTo>
                    <a:pt x="10587609" y="0"/>
                  </a:lnTo>
                  <a:cubicBezTo>
                    <a:pt x="10665968" y="0"/>
                    <a:pt x="10729595" y="61214"/>
                    <a:pt x="10729595" y="136779"/>
                  </a:cubicBezTo>
                  <a:lnTo>
                    <a:pt x="10729595" y="188722"/>
                  </a:lnTo>
                  <a:cubicBezTo>
                    <a:pt x="10729595" y="264287"/>
                    <a:pt x="10666095" y="325501"/>
                    <a:pt x="10587609" y="325501"/>
                  </a:cubicBezTo>
                  <a:lnTo>
                    <a:pt x="141986" y="325501"/>
                  </a:lnTo>
                  <a:cubicBezTo>
                    <a:pt x="63500" y="325374"/>
                    <a:pt x="0" y="264160"/>
                    <a:pt x="0" y="188722"/>
                  </a:cubicBezTo>
                  <a:close/>
                </a:path>
              </a:pathLst>
            </a:custGeom>
            <a:solidFill>
              <a:srgbClr val="E1E1EA"/>
            </a:solidFill>
          </p:spPr>
        </p:sp>
        <p:sp>
          <p:nvSpPr>
            <p:cNvPr name="Freeform 15" id="15"/>
            <p:cNvSpPr/>
            <p:nvPr/>
          </p:nvSpPr>
          <p:spPr>
            <a:xfrm flipH="false" flipV="false" rot="0">
              <a:off x="0" y="0"/>
              <a:ext cx="10742295" cy="338201"/>
            </a:xfrm>
            <a:custGeom>
              <a:avLst/>
              <a:gdLst/>
              <a:ahLst/>
              <a:cxnLst/>
              <a:rect r="r" b="b" t="t" l="l"/>
              <a:pathLst>
                <a:path h="338201" w="10742295">
                  <a:moveTo>
                    <a:pt x="0" y="143129"/>
                  </a:moveTo>
                  <a:cubicBezTo>
                    <a:pt x="0" y="63881"/>
                    <a:pt x="66675" y="0"/>
                    <a:pt x="148336" y="0"/>
                  </a:cubicBezTo>
                  <a:lnTo>
                    <a:pt x="10593959" y="0"/>
                  </a:lnTo>
                  <a:lnTo>
                    <a:pt x="10593959" y="6350"/>
                  </a:lnTo>
                  <a:lnTo>
                    <a:pt x="10593959" y="0"/>
                  </a:lnTo>
                  <a:cubicBezTo>
                    <a:pt x="10675620" y="0"/>
                    <a:pt x="10742295" y="63881"/>
                    <a:pt x="10742295" y="143129"/>
                  </a:cubicBezTo>
                  <a:lnTo>
                    <a:pt x="10742295" y="195072"/>
                  </a:lnTo>
                  <a:lnTo>
                    <a:pt x="10735945" y="195072"/>
                  </a:lnTo>
                  <a:lnTo>
                    <a:pt x="10742295" y="195072"/>
                  </a:lnTo>
                  <a:cubicBezTo>
                    <a:pt x="10742295" y="274320"/>
                    <a:pt x="10675620" y="338201"/>
                    <a:pt x="10593959" y="338201"/>
                  </a:cubicBezTo>
                  <a:lnTo>
                    <a:pt x="10593959" y="331851"/>
                  </a:lnTo>
                  <a:lnTo>
                    <a:pt x="10593959" y="338201"/>
                  </a:lnTo>
                  <a:lnTo>
                    <a:pt x="148336" y="338201"/>
                  </a:lnTo>
                  <a:lnTo>
                    <a:pt x="148336" y="331851"/>
                  </a:lnTo>
                  <a:lnTo>
                    <a:pt x="148336" y="338201"/>
                  </a:lnTo>
                  <a:cubicBezTo>
                    <a:pt x="66675" y="338074"/>
                    <a:pt x="0" y="274320"/>
                    <a:pt x="0" y="195072"/>
                  </a:cubicBezTo>
                  <a:lnTo>
                    <a:pt x="0" y="143129"/>
                  </a:lnTo>
                  <a:lnTo>
                    <a:pt x="6350" y="143129"/>
                  </a:lnTo>
                  <a:lnTo>
                    <a:pt x="0" y="143129"/>
                  </a:lnTo>
                  <a:moveTo>
                    <a:pt x="12700" y="143129"/>
                  </a:moveTo>
                  <a:lnTo>
                    <a:pt x="12700" y="195072"/>
                  </a:lnTo>
                  <a:lnTo>
                    <a:pt x="6350" y="195072"/>
                  </a:lnTo>
                  <a:lnTo>
                    <a:pt x="12700" y="195072"/>
                  </a:lnTo>
                  <a:cubicBezTo>
                    <a:pt x="12700" y="266827"/>
                    <a:pt x="73152" y="325501"/>
                    <a:pt x="148336" y="325501"/>
                  </a:cubicBezTo>
                  <a:lnTo>
                    <a:pt x="10593959" y="325501"/>
                  </a:lnTo>
                  <a:cubicBezTo>
                    <a:pt x="10669015" y="325501"/>
                    <a:pt x="10729595" y="266954"/>
                    <a:pt x="10729595" y="195072"/>
                  </a:cubicBezTo>
                  <a:lnTo>
                    <a:pt x="10729595" y="143129"/>
                  </a:lnTo>
                  <a:lnTo>
                    <a:pt x="10735945" y="143129"/>
                  </a:lnTo>
                  <a:lnTo>
                    <a:pt x="10729595" y="143129"/>
                  </a:lnTo>
                  <a:cubicBezTo>
                    <a:pt x="10729468" y="71247"/>
                    <a:pt x="10669016" y="12700"/>
                    <a:pt x="10593959" y="12700"/>
                  </a:cubicBezTo>
                  <a:lnTo>
                    <a:pt x="148336" y="12700"/>
                  </a:lnTo>
                  <a:lnTo>
                    <a:pt x="148336" y="6350"/>
                  </a:lnTo>
                  <a:lnTo>
                    <a:pt x="148336" y="12700"/>
                  </a:lnTo>
                  <a:cubicBezTo>
                    <a:pt x="73152" y="12700"/>
                    <a:pt x="12700" y="71247"/>
                    <a:pt x="12700" y="143129"/>
                  </a:cubicBezTo>
                  <a:close/>
                </a:path>
              </a:pathLst>
            </a:custGeom>
            <a:solidFill>
              <a:srgbClr val="C7C7D0"/>
            </a:solidFill>
          </p:spPr>
        </p:sp>
      </p:grpSp>
      <p:sp>
        <p:nvSpPr>
          <p:cNvPr name="TextBox 16" id="16"/>
          <p:cNvSpPr txBox="true"/>
          <p:nvPr/>
        </p:nvSpPr>
        <p:spPr>
          <a:xfrm rot="0">
            <a:off x="9508179" y="3877570"/>
            <a:ext cx="3402216" cy="410023"/>
          </a:xfrm>
          <a:prstGeom prst="rect">
            <a:avLst/>
          </a:prstGeom>
        </p:spPr>
        <p:txBody>
          <a:bodyPr anchor="t" rtlCol="false" tIns="0" lIns="0" bIns="0" rIns="0">
            <a:spAutoFit/>
          </a:bodyPr>
          <a:lstStyle/>
          <a:p>
            <a:pPr algn="l">
              <a:lnSpc>
                <a:spcPts val="3000"/>
              </a:lnSpc>
            </a:pPr>
            <a:r>
              <a:rPr lang="en-US" sz="2375">
                <a:solidFill>
                  <a:srgbClr val="3C3939"/>
                </a:solidFill>
                <a:latin typeface="Raleway"/>
                <a:ea typeface="Raleway"/>
                <a:cs typeface="Raleway"/>
                <a:sym typeface="Raleway"/>
              </a:rPr>
              <a:t>2. Penyimpanan Antrean</a:t>
            </a:r>
          </a:p>
        </p:txBody>
      </p:sp>
      <p:sp>
        <p:nvSpPr>
          <p:cNvPr name="TextBox 17" id="17"/>
          <p:cNvSpPr txBox="true"/>
          <p:nvPr/>
        </p:nvSpPr>
        <p:spPr>
          <a:xfrm rot="0">
            <a:off x="9508179" y="4346077"/>
            <a:ext cx="7558983" cy="1248813"/>
          </a:xfrm>
          <a:prstGeom prst="rect">
            <a:avLst/>
          </a:prstGeom>
        </p:spPr>
        <p:txBody>
          <a:bodyPr anchor="t" rtlCol="false" tIns="0" lIns="0" bIns="0" rIns="0">
            <a:spAutoFit/>
          </a:bodyPr>
          <a:lstStyle/>
          <a:p>
            <a:pPr algn="l">
              <a:lnSpc>
                <a:spcPts val="3000"/>
              </a:lnSpc>
            </a:pPr>
            <a:r>
              <a:rPr lang="en-US" sz="1874">
                <a:solidFill>
                  <a:srgbClr val="3C3939"/>
                </a:solidFill>
                <a:latin typeface="Roboto"/>
                <a:ea typeface="Roboto"/>
                <a:cs typeface="Roboto"/>
                <a:sym typeface="Roboto"/>
              </a:rPr>
              <a:t>         Pesanan disimpan di database antrean dengan timestamp; setiap entri berisi detail lengkap untuk menghindari kebutuhan verifikasi verbal.       </a:t>
            </a:r>
          </a:p>
        </p:txBody>
      </p:sp>
      <p:grpSp>
        <p:nvGrpSpPr>
          <p:cNvPr name="Group 18" id="18"/>
          <p:cNvGrpSpPr/>
          <p:nvPr/>
        </p:nvGrpSpPr>
        <p:grpSpPr>
          <a:xfrm rot="0">
            <a:off x="971998" y="6440834"/>
            <a:ext cx="8056512" cy="253603"/>
            <a:chOff x="0" y="0"/>
            <a:chExt cx="10742016" cy="338138"/>
          </a:xfrm>
        </p:grpSpPr>
        <p:sp>
          <p:nvSpPr>
            <p:cNvPr name="Freeform 19" id="19"/>
            <p:cNvSpPr/>
            <p:nvPr/>
          </p:nvSpPr>
          <p:spPr>
            <a:xfrm flipH="false" flipV="false" rot="0">
              <a:off x="6350" y="6350"/>
              <a:ext cx="10729341" cy="325501"/>
            </a:xfrm>
            <a:custGeom>
              <a:avLst/>
              <a:gdLst/>
              <a:ahLst/>
              <a:cxnLst/>
              <a:rect r="r" b="b" t="t" l="l"/>
              <a:pathLst>
                <a:path h="325501" w="10729341">
                  <a:moveTo>
                    <a:pt x="0" y="136779"/>
                  </a:moveTo>
                  <a:cubicBezTo>
                    <a:pt x="0" y="61214"/>
                    <a:pt x="63500" y="0"/>
                    <a:pt x="141986" y="0"/>
                  </a:cubicBezTo>
                  <a:lnTo>
                    <a:pt x="10587355" y="0"/>
                  </a:lnTo>
                  <a:cubicBezTo>
                    <a:pt x="10665714" y="0"/>
                    <a:pt x="10729341" y="61214"/>
                    <a:pt x="10729341" y="136779"/>
                  </a:cubicBezTo>
                  <a:lnTo>
                    <a:pt x="10729341" y="188722"/>
                  </a:lnTo>
                  <a:cubicBezTo>
                    <a:pt x="10729341" y="264287"/>
                    <a:pt x="10665841" y="325501"/>
                    <a:pt x="10587355" y="325501"/>
                  </a:cubicBezTo>
                  <a:lnTo>
                    <a:pt x="141986" y="325501"/>
                  </a:lnTo>
                  <a:cubicBezTo>
                    <a:pt x="63500" y="325374"/>
                    <a:pt x="0" y="264160"/>
                    <a:pt x="0" y="188722"/>
                  </a:cubicBezTo>
                  <a:close/>
                </a:path>
              </a:pathLst>
            </a:custGeom>
            <a:solidFill>
              <a:srgbClr val="E1E1EA"/>
            </a:solidFill>
          </p:spPr>
        </p:sp>
        <p:sp>
          <p:nvSpPr>
            <p:cNvPr name="Freeform 20" id="20"/>
            <p:cNvSpPr/>
            <p:nvPr/>
          </p:nvSpPr>
          <p:spPr>
            <a:xfrm flipH="false" flipV="false" rot="0">
              <a:off x="0" y="0"/>
              <a:ext cx="10742041" cy="338201"/>
            </a:xfrm>
            <a:custGeom>
              <a:avLst/>
              <a:gdLst/>
              <a:ahLst/>
              <a:cxnLst/>
              <a:rect r="r" b="b" t="t" l="l"/>
              <a:pathLst>
                <a:path h="338201" w="10742041">
                  <a:moveTo>
                    <a:pt x="0" y="143129"/>
                  </a:moveTo>
                  <a:cubicBezTo>
                    <a:pt x="0" y="63881"/>
                    <a:pt x="66675" y="0"/>
                    <a:pt x="148336" y="0"/>
                  </a:cubicBezTo>
                  <a:lnTo>
                    <a:pt x="10593705" y="0"/>
                  </a:lnTo>
                  <a:lnTo>
                    <a:pt x="10593705" y="6350"/>
                  </a:lnTo>
                  <a:lnTo>
                    <a:pt x="10593705" y="0"/>
                  </a:lnTo>
                  <a:cubicBezTo>
                    <a:pt x="10675366" y="0"/>
                    <a:pt x="10742041" y="63881"/>
                    <a:pt x="10742041" y="143129"/>
                  </a:cubicBezTo>
                  <a:lnTo>
                    <a:pt x="10742041" y="195072"/>
                  </a:lnTo>
                  <a:lnTo>
                    <a:pt x="10735691" y="195072"/>
                  </a:lnTo>
                  <a:lnTo>
                    <a:pt x="10742041" y="195072"/>
                  </a:lnTo>
                  <a:cubicBezTo>
                    <a:pt x="10742041" y="274320"/>
                    <a:pt x="10675366" y="338201"/>
                    <a:pt x="10593705" y="338201"/>
                  </a:cubicBezTo>
                  <a:lnTo>
                    <a:pt x="10593705" y="331851"/>
                  </a:lnTo>
                  <a:lnTo>
                    <a:pt x="10593705" y="338201"/>
                  </a:lnTo>
                  <a:lnTo>
                    <a:pt x="148336" y="338201"/>
                  </a:lnTo>
                  <a:lnTo>
                    <a:pt x="148336" y="331851"/>
                  </a:lnTo>
                  <a:lnTo>
                    <a:pt x="148336" y="338201"/>
                  </a:lnTo>
                  <a:cubicBezTo>
                    <a:pt x="66675" y="338074"/>
                    <a:pt x="0" y="274320"/>
                    <a:pt x="0" y="195072"/>
                  </a:cubicBezTo>
                  <a:lnTo>
                    <a:pt x="0" y="143129"/>
                  </a:lnTo>
                  <a:lnTo>
                    <a:pt x="6350" y="143129"/>
                  </a:lnTo>
                  <a:lnTo>
                    <a:pt x="0" y="143129"/>
                  </a:lnTo>
                  <a:moveTo>
                    <a:pt x="12700" y="143129"/>
                  </a:moveTo>
                  <a:lnTo>
                    <a:pt x="12700" y="195072"/>
                  </a:lnTo>
                  <a:lnTo>
                    <a:pt x="6350" y="195072"/>
                  </a:lnTo>
                  <a:lnTo>
                    <a:pt x="12700" y="195072"/>
                  </a:lnTo>
                  <a:cubicBezTo>
                    <a:pt x="12700" y="266827"/>
                    <a:pt x="73152" y="325501"/>
                    <a:pt x="148336" y="325501"/>
                  </a:cubicBezTo>
                  <a:lnTo>
                    <a:pt x="10593705" y="325501"/>
                  </a:lnTo>
                  <a:cubicBezTo>
                    <a:pt x="10668762" y="325501"/>
                    <a:pt x="10729341" y="266954"/>
                    <a:pt x="10729341" y="195072"/>
                  </a:cubicBezTo>
                  <a:lnTo>
                    <a:pt x="10729341" y="143129"/>
                  </a:lnTo>
                  <a:lnTo>
                    <a:pt x="10735691" y="143129"/>
                  </a:lnTo>
                  <a:lnTo>
                    <a:pt x="10729341" y="143129"/>
                  </a:lnTo>
                  <a:cubicBezTo>
                    <a:pt x="10729341" y="71247"/>
                    <a:pt x="10668889" y="12700"/>
                    <a:pt x="10593705" y="12700"/>
                  </a:cubicBezTo>
                  <a:lnTo>
                    <a:pt x="148336" y="12700"/>
                  </a:lnTo>
                  <a:lnTo>
                    <a:pt x="148336" y="6350"/>
                  </a:lnTo>
                  <a:lnTo>
                    <a:pt x="148336" y="12700"/>
                  </a:lnTo>
                  <a:cubicBezTo>
                    <a:pt x="73152" y="12700"/>
                    <a:pt x="12700" y="71247"/>
                    <a:pt x="12700" y="143129"/>
                  </a:cubicBezTo>
                  <a:close/>
                </a:path>
              </a:pathLst>
            </a:custGeom>
            <a:solidFill>
              <a:srgbClr val="C7C7D0"/>
            </a:solidFill>
          </p:spPr>
        </p:sp>
      </p:grpSp>
      <p:sp>
        <p:nvSpPr>
          <p:cNvPr name="TextBox 21" id="21"/>
          <p:cNvSpPr txBox="true"/>
          <p:nvPr/>
        </p:nvSpPr>
        <p:spPr>
          <a:xfrm rot="0">
            <a:off x="1220838" y="6901453"/>
            <a:ext cx="3886048" cy="410023"/>
          </a:xfrm>
          <a:prstGeom prst="rect">
            <a:avLst/>
          </a:prstGeom>
        </p:spPr>
        <p:txBody>
          <a:bodyPr anchor="t" rtlCol="false" tIns="0" lIns="0" bIns="0" rIns="0">
            <a:spAutoFit/>
          </a:bodyPr>
          <a:lstStyle/>
          <a:p>
            <a:pPr algn="l">
              <a:lnSpc>
                <a:spcPts val="3000"/>
              </a:lnSpc>
            </a:pPr>
            <a:r>
              <a:rPr lang="en-US" sz="2375">
                <a:solidFill>
                  <a:srgbClr val="3C3939"/>
                </a:solidFill>
                <a:latin typeface="Raleway"/>
                <a:ea typeface="Raleway"/>
                <a:cs typeface="Raleway"/>
                <a:sym typeface="Raleway"/>
              </a:rPr>
              <a:t>3. Produksi &amp; Update Status</a:t>
            </a:r>
          </a:p>
        </p:txBody>
      </p:sp>
      <p:sp>
        <p:nvSpPr>
          <p:cNvPr name="TextBox 22" id="22"/>
          <p:cNvSpPr txBox="true"/>
          <p:nvPr/>
        </p:nvSpPr>
        <p:spPr>
          <a:xfrm rot="0">
            <a:off x="1220838" y="7369969"/>
            <a:ext cx="7558830" cy="861117"/>
          </a:xfrm>
          <a:prstGeom prst="rect">
            <a:avLst/>
          </a:prstGeom>
        </p:spPr>
        <p:txBody>
          <a:bodyPr anchor="t" rtlCol="false" tIns="0" lIns="0" bIns="0" rIns="0">
            <a:spAutoFit/>
          </a:bodyPr>
          <a:lstStyle/>
          <a:p>
            <a:pPr algn="l">
              <a:lnSpc>
                <a:spcPts val="3000"/>
              </a:lnSpc>
            </a:pPr>
            <a:r>
              <a:rPr lang="en-US" sz="1874">
                <a:solidFill>
                  <a:srgbClr val="3C3939"/>
                </a:solidFill>
                <a:latin typeface="Roboto"/>
                <a:ea typeface="Roboto"/>
                <a:cs typeface="Roboto"/>
                <a:sym typeface="Roboto"/>
              </a:rPr>
              <a:t>         Penjual melihat layar antrean, memproses pesanan sesuai FIFO, lalu mengubah status dari "Sedang Diproses" menjadi "Siap Diambil".       </a:t>
            </a:r>
          </a:p>
        </p:txBody>
      </p:sp>
      <p:grpSp>
        <p:nvGrpSpPr>
          <p:cNvPr name="Group 23" id="23"/>
          <p:cNvGrpSpPr/>
          <p:nvPr/>
        </p:nvGrpSpPr>
        <p:grpSpPr>
          <a:xfrm rot="0">
            <a:off x="9259338" y="6074569"/>
            <a:ext cx="8056664" cy="253603"/>
            <a:chOff x="0" y="0"/>
            <a:chExt cx="10742219" cy="338138"/>
          </a:xfrm>
        </p:grpSpPr>
        <p:sp>
          <p:nvSpPr>
            <p:cNvPr name="Freeform 24" id="24"/>
            <p:cNvSpPr/>
            <p:nvPr/>
          </p:nvSpPr>
          <p:spPr>
            <a:xfrm flipH="false" flipV="false" rot="0">
              <a:off x="6350" y="6350"/>
              <a:ext cx="10729595" cy="325501"/>
            </a:xfrm>
            <a:custGeom>
              <a:avLst/>
              <a:gdLst/>
              <a:ahLst/>
              <a:cxnLst/>
              <a:rect r="r" b="b" t="t" l="l"/>
              <a:pathLst>
                <a:path h="325501" w="10729595">
                  <a:moveTo>
                    <a:pt x="0" y="136779"/>
                  </a:moveTo>
                  <a:cubicBezTo>
                    <a:pt x="0" y="61214"/>
                    <a:pt x="63500" y="0"/>
                    <a:pt x="141986" y="0"/>
                  </a:cubicBezTo>
                  <a:lnTo>
                    <a:pt x="10587609" y="0"/>
                  </a:lnTo>
                  <a:cubicBezTo>
                    <a:pt x="10665968" y="0"/>
                    <a:pt x="10729595" y="61214"/>
                    <a:pt x="10729595" y="136779"/>
                  </a:cubicBezTo>
                  <a:lnTo>
                    <a:pt x="10729595" y="188722"/>
                  </a:lnTo>
                  <a:cubicBezTo>
                    <a:pt x="10729595" y="264287"/>
                    <a:pt x="10666095" y="325501"/>
                    <a:pt x="10587609" y="325501"/>
                  </a:cubicBezTo>
                  <a:lnTo>
                    <a:pt x="141986" y="325501"/>
                  </a:lnTo>
                  <a:cubicBezTo>
                    <a:pt x="63500" y="325374"/>
                    <a:pt x="0" y="264160"/>
                    <a:pt x="0" y="188722"/>
                  </a:cubicBezTo>
                  <a:close/>
                </a:path>
              </a:pathLst>
            </a:custGeom>
            <a:solidFill>
              <a:srgbClr val="E1E1EA"/>
            </a:solidFill>
          </p:spPr>
        </p:sp>
        <p:sp>
          <p:nvSpPr>
            <p:cNvPr name="Freeform 25" id="25"/>
            <p:cNvSpPr/>
            <p:nvPr/>
          </p:nvSpPr>
          <p:spPr>
            <a:xfrm flipH="false" flipV="false" rot="0">
              <a:off x="0" y="0"/>
              <a:ext cx="10742295" cy="338201"/>
            </a:xfrm>
            <a:custGeom>
              <a:avLst/>
              <a:gdLst/>
              <a:ahLst/>
              <a:cxnLst/>
              <a:rect r="r" b="b" t="t" l="l"/>
              <a:pathLst>
                <a:path h="338201" w="10742295">
                  <a:moveTo>
                    <a:pt x="0" y="143129"/>
                  </a:moveTo>
                  <a:cubicBezTo>
                    <a:pt x="0" y="63881"/>
                    <a:pt x="66675" y="0"/>
                    <a:pt x="148336" y="0"/>
                  </a:cubicBezTo>
                  <a:lnTo>
                    <a:pt x="10593959" y="0"/>
                  </a:lnTo>
                  <a:lnTo>
                    <a:pt x="10593959" y="6350"/>
                  </a:lnTo>
                  <a:lnTo>
                    <a:pt x="10593959" y="0"/>
                  </a:lnTo>
                  <a:cubicBezTo>
                    <a:pt x="10675620" y="0"/>
                    <a:pt x="10742295" y="63881"/>
                    <a:pt x="10742295" y="143129"/>
                  </a:cubicBezTo>
                  <a:lnTo>
                    <a:pt x="10742295" y="195072"/>
                  </a:lnTo>
                  <a:lnTo>
                    <a:pt x="10735945" y="195072"/>
                  </a:lnTo>
                  <a:lnTo>
                    <a:pt x="10742295" y="195072"/>
                  </a:lnTo>
                  <a:cubicBezTo>
                    <a:pt x="10742295" y="274320"/>
                    <a:pt x="10675620" y="338201"/>
                    <a:pt x="10593959" y="338201"/>
                  </a:cubicBezTo>
                  <a:lnTo>
                    <a:pt x="10593959" y="331851"/>
                  </a:lnTo>
                  <a:lnTo>
                    <a:pt x="10593959" y="338201"/>
                  </a:lnTo>
                  <a:lnTo>
                    <a:pt x="148336" y="338201"/>
                  </a:lnTo>
                  <a:lnTo>
                    <a:pt x="148336" y="331851"/>
                  </a:lnTo>
                  <a:lnTo>
                    <a:pt x="148336" y="338201"/>
                  </a:lnTo>
                  <a:cubicBezTo>
                    <a:pt x="66675" y="338074"/>
                    <a:pt x="0" y="274320"/>
                    <a:pt x="0" y="195072"/>
                  </a:cubicBezTo>
                  <a:lnTo>
                    <a:pt x="0" y="143129"/>
                  </a:lnTo>
                  <a:lnTo>
                    <a:pt x="6350" y="143129"/>
                  </a:lnTo>
                  <a:lnTo>
                    <a:pt x="0" y="143129"/>
                  </a:lnTo>
                  <a:moveTo>
                    <a:pt x="12700" y="143129"/>
                  </a:moveTo>
                  <a:lnTo>
                    <a:pt x="12700" y="195072"/>
                  </a:lnTo>
                  <a:lnTo>
                    <a:pt x="6350" y="195072"/>
                  </a:lnTo>
                  <a:lnTo>
                    <a:pt x="12700" y="195072"/>
                  </a:lnTo>
                  <a:cubicBezTo>
                    <a:pt x="12700" y="266827"/>
                    <a:pt x="73152" y="325501"/>
                    <a:pt x="148336" y="325501"/>
                  </a:cubicBezTo>
                  <a:lnTo>
                    <a:pt x="10593959" y="325501"/>
                  </a:lnTo>
                  <a:cubicBezTo>
                    <a:pt x="10669015" y="325501"/>
                    <a:pt x="10729595" y="266954"/>
                    <a:pt x="10729595" y="195072"/>
                  </a:cubicBezTo>
                  <a:lnTo>
                    <a:pt x="10729595" y="143129"/>
                  </a:lnTo>
                  <a:lnTo>
                    <a:pt x="10735945" y="143129"/>
                  </a:lnTo>
                  <a:lnTo>
                    <a:pt x="10729595" y="143129"/>
                  </a:lnTo>
                  <a:cubicBezTo>
                    <a:pt x="10729468" y="71247"/>
                    <a:pt x="10669016" y="12700"/>
                    <a:pt x="10593959" y="12700"/>
                  </a:cubicBezTo>
                  <a:lnTo>
                    <a:pt x="148336" y="12700"/>
                  </a:lnTo>
                  <a:lnTo>
                    <a:pt x="148336" y="6350"/>
                  </a:lnTo>
                  <a:lnTo>
                    <a:pt x="148336" y="12700"/>
                  </a:lnTo>
                  <a:cubicBezTo>
                    <a:pt x="73152" y="12700"/>
                    <a:pt x="12700" y="71247"/>
                    <a:pt x="12700" y="143129"/>
                  </a:cubicBezTo>
                  <a:close/>
                </a:path>
              </a:pathLst>
            </a:custGeom>
            <a:solidFill>
              <a:srgbClr val="C7C7D0"/>
            </a:solidFill>
          </p:spPr>
        </p:sp>
      </p:grpSp>
      <p:sp>
        <p:nvSpPr>
          <p:cNvPr name="TextBox 26" id="26"/>
          <p:cNvSpPr txBox="true"/>
          <p:nvPr/>
        </p:nvSpPr>
        <p:spPr>
          <a:xfrm rot="0">
            <a:off x="9508179" y="6535188"/>
            <a:ext cx="3811343" cy="410023"/>
          </a:xfrm>
          <a:prstGeom prst="rect">
            <a:avLst/>
          </a:prstGeom>
        </p:spPr>
        <p:txBody>
          <a:bodyPr anchor="t" rtlCol="false" tIns="0" lIns="0" bIns="0" rIns="0">
            <a:spAutoFit/>
          </a:bodyPr>
          <a:lstStyle/>
          <a:p>
            <a:pPr algn="l">
              <a:lnSpc>
                <a:spcPts val="3000"/>
              </a:lnSpc>
            </a:pPr>
            <a:r>
              <a:rPr lang="en-US" sz="2375">
                <a:solidFill>
                  <a:srgbClr val="3C3939"/>
                </a:solidFill>
                <a:latin typeface="Raleway"/>
                <a:ea typeface="Raleway"/>
                <a:cs typeface="Raleway"/>
                <a:sym typeface="Raleway"/>
              </a:rPr>
              <a:t>4. Notifikasi &amp; Pengambilan</a:t>
            </a:r>
          </a:p>
        </p:txBody>
      </p:sp>
      <p:sp>
        <p:nvSpPr>
          <p:cNvPr name="TextBox 27" id="27"/>
          <p:cNvSpPr txBox="true"/>
          <p:nvPr/>
        </p:nvSpPr>
        <p:spPr>
          <a:xfrm rot="0">
            <a:off x="9508179" y="7003704"/>
            <a:ext cx="7558983" cy="1248813"/>
          </a:xfrm>
          <a:prstGeom prst="rect">
            <a:avLst/>
          </a:prstGeom>
        </p:spPr>
        <p:txBody>
          <a:bodyPr anchor="t" rtlCol="false" tIns="0" lIns="0" bIns="0" rIns="0">
            <a:spAutoFit/>
          </a:bodyPr>
          <a:lstStyle/>
          <a:p>
            <a:pPr algn="l">
              <a:lnSpc>
                <a:spcPts val="3000"/>
              </a:lnSpc>
            </a:pPr>
            <a:r>
              <a:rPr lang="en-US" sz="1874">
                <a:solidFill>
                  <a:srgbClr val="3C3939"/>
                </a:solidFill>
                <a:latin typeface="Roboto"/>
                <a:ea typeface="Roboto"/>
                <a:cs typeface="Roboto"/>
                <a:sym typeface="Roboto"/>
              </a:rPr>
              <a:t>         Sistem mengirim notifikasi otomatis ke pelanggan ketika pesanan siap sehingga pengambilan lebih teratur tanpa teriakan atau kerumunan.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698727"/>
            <a:ext cx="12761873" cy="6248000"/>
          </a:xfrm>
          <a:custGeom>
            <a:avLst/>
            <a:gdLst/>
            <a:ahLst/>
            <a:cxnLst/>
            <a:rect r="r" b="b" t="t" l="l"/>
            <a:pathLst>
              <a:path h="6248000" w="12761873">
                <a:moveTo>
                  <a:pt x="0" y="0"/>
                </a:moveTo>
                <a:lnTo>
                  <a:pt x="12761873" y="0"/>
                </a:lnTo>
                <a:lnTo>
                  <a:pt x="12761873" y="6248000"/>
                </a:lnTo>
                <a:lnTo>
                  <a:pt x="0" y="6248000"/>
                </a:lnTo>
                <a:lnTo>
                  <a:pt x="0" y="0"/>
                </a:lnTo>
                <a:close/>
              </a:path>
            </a:pathLst>
          </a:custGeom>
          <a:blipFill>
            <a:blip r:embed="rId3"/>
            <a:stretch>
              <a:fillRect l="0" t="0" r="0" b="0"/>
            </a:stretch>
          </a:blipFill>
        </p:spPr>
      </p:sp>
      <p:sp>
        <p:nvSpPr>
          <p:cNvPr name="TextBox 3" id="3"/>
          <p:cNvSpPr txBox="true"/>
          <p:nvPr/>
        </p:nvSpPr>
        <p:spPr>
          <a:xfrm rot="0">
            <a:off x="1028700" y="895055"/>
            <a:ext cx="9389421" cy="803672"/>
          </a:xfrm>
          <a:prstGeom prst="rect">
            <a:avLst/>
          </a:prstGeom>
        </p:spPr>
        <p:txBody>
          <a:bodyPr anchor="t" rtlCol="false" tIns="0" lIns="0" bIns="0" rIns="0">
            <a:spAutoFit/>
          </a:bodyPr>
          <a:lstStyle/>
          <a:p>
            <a:pPr algn="l">
              <a:lnSpc>
                <a:spcPts val="6062"/>
              </a:lnSpc>
            </a:pPr>
            <a:r>
              <a:rPr lang="en-US" sz="4875">
                <a:solidFill>
                  <a:srgbClr val="1B1B27"/>
                </a:solidFill>
                <a:latin typeface="Raleway"/>
                <a:ea typeface="Raleway"/>
                <a:cs typeface="Raleway"/>
                <a:sym typeface="Raleway"/>
              </a:rPr>
              <a:t>Diagram Alur Bisnis EconoMakan</a:t>
            </a:r>
          </a:p>
        </p:txBody>
      </p:sp>
      <p:sp>
        <p:nvSpPr>
          <p:cNvPr name="TextBox 4" id="4"/>
          <p:cNvSpPr txBox="true"/>
          <p:nvPr/>
        </p:nvSpPr>
        <p:spPr>
          <a:xfrm rot="0">
            <a:off x="1028700" y="7950251"/>
            <a:ext cx="9445523" cy="1165225"/>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Diagram di atas memvisualisasikan perpindahan data mulai dari input pelanggan, penyimpanan di database antrean, verifikasi dan validasi oleh penjual, hingga perekaman untuk laporan.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917819"/>
            <a:ext cx="8821341" cy="803672"/>
          </a:xfrm>
          <a:prstGeom prst="rect">
            <a:avLst/>
          </a:prstGeom>
        </p:spPr>
        <p:txBody>
          <a:bodyPr anchor="t" rtlCol="false" tIns="0" lIns="0" bIns="0" rIns="0">
            <a:spAutoFit/>
          </a:bodyPr>
          <a:lstStyle/>
          <a:p>
            <a:pPr algn="l">
              <a:lnSpc>
                <a:spcPts val="6062"/>
              </a:lnSpc>
            </a:pPr>
            <a:r>
              <a:rPr lang="en-US" sz="4875">
                <a:solidFill>
                  <a:srgbClr val="1B1B27"/>
                </a:solidFill>
                <a:latin typeface="Raleway"/>
                <a:ea typeface="Raleway"/>
                <a:cs typeface="Raleway"/>
                <a:sym typeface="Raleway"/>
              </a:rPr>
              <a:t>Peran Pengguna dalam Sistem</a:t>
            </a:r>
          </a:p>
        </p:txBody>
      </p:sp>
      <p:sp>
        <p:nvSpPr>
          <p:cNvPr name="Freeform 11" id="11" descr="preencoded.png"/>
          <p:cNvSpPr/>
          <p:nvPr/>
        </p:nvSpPr>
        <p:spPr>
          <a:xfrm flipH="false" flipV="false" rot="0">
            <a:off x="992238" y="2093566"/>
            <a:ext cx="620163" cy="620163"/>
          </a:xfrm>
          <a:custGeom>
            <a:avLst/>
            <a:gdLst/>
            <a:ahLst/>
            <a:cxnLst/>
            <a:rect r="r" b="b" t="t" l="l"/>
            <a:pathLst>
              <a:path h="620163" w="620163">
                <a:moveTo>
                  <a:pt x="0" y="0"/>
                </a:moveTo>
                <a:lnTo>
                  <a:pt x="620164" y="0"/>
                </a:lnTo>
                <a:lnTo>
                  <a:pt x="620164" y="620164"/>
                </a:lnTo>
                <a:lnTo>
                  <a:pt x="0" y="620164"/>
                </a:lnTo>
                <a:lnTo>
                  <a:pt x="0" y="0"/>
                </a:lnTo>
                <a:close/>
              </a:path>
            </a:pathLst>
          </a:custGeom>
          <a:blipFill>
            <a:blip r:embed="rId6">
              <a:extLst>
                <a:ext uri="{96DAC541-7B7A-43D3-8B79-37D633B846F1}">
                  <asvg:svgBlip xmlns:asvg="http://schemas.microsoft.com/office/drawing/2016/SVG/main" r:embed="rId7"/>
                </a:ext>
              </a:extLst>
            </a:blip>
            <a:stretch>
              <a:fillRect l="0" t="-17424" r="0" b="-17424"/>
            </a:stretch>
          </a:blipFill>
        </p:spPr>
      </p:sp>
      <p:sp>
        <p:nvSpPr>
          <p:cNvPr name="TextBox 12" id="12"/>
          <p:cNvSpPr txBox="true"/>
          <p:nvPr/>
        </p:nvSpPr>
        <p:spPr>
          <a:xfrm rot="0">
            <a:off x="1922412" y="2074516"/>
            <a:ext cx="3353991"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Pelanggan (Mahasiswa)</a:t>
            </a:r>
          </a:p>
        </p:txBody>
      </p:sp>
      <p:sp>
        <p:nvSpPr>
          <p:cNvPr name="TextBox 13" id="13"/>
          <p:cNvSpPr txBox="true"/>
          <p:nvPr/>
        </p:nvSpPr>
        <p:spPr>
          <a:xfrm rot="0">
            <a:off x="1922412" y="2534841"/>
            <a:ext cx="8515350" cy="1286027"/>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Tanggung jawab: membuat pesanan, menambahkan catatan kustomisasi, memantau status antrean, menerima notifikasi saat pesanan siap, dan melakukan pembayaran (QRIS) melalui antarmuka web.       </a:t>
            </a:r>
          </a:p>
        </p:txBody>
      </p:sp>
      <p:sp>
        <p:nvSpPr>
          <p:cNvPr name="Freeform 14" id="14" descr="preencoded.png"/>
          <p:cNvSpPr/>
          <p:nvPr/>
        </p:nvSpPr>
        <p:spPr>
          <a:xfrm flipH="false" flipV="false" rot="0">
            <a:off x="992238" y="4316911"/>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8">
              <a:extLst>
                <a:ext uri="{96DAC541-7B7A-43D3-8B79-37D633B846F1}">
                  <asvg:svgBlip xmlns:asvg="http://schemas.microsoft.com/office/drawing/2016/SVG/main" r:embed="rId9"/>
                </a:ext>
              </a:extLst>
            </a:blip>
            <a:stretch>
              <a:fillRect l="0" t="-8333" r="0" b="-8333"/>
            </a:stretch>
          </a:blipFill>
        </p:spPr>
      </p:sp>
      <p:sp>
        <p:nvSpPr>
          <p:cNvPr name="TextBox 15" id="15"/>
          <p:cNvSpPr txBox="true"/>
          <p:nvPr/>
        </p:nvSpPr>
        <p:spPr>
          <a:xfrm rot="0">
            <a:off x="1922412" y="4297861"/>
            <a:ext cx="3101130"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Penjual (Admin)</a:t>
            </a:r>
          </a:p>
        </p:txBody>
      </p:sp>
      <p:sp>
        <p:nvSpPr>
          <p:cNvPr name="TextBox 16" id="16"/>
          <p:cNvSpPr txBox="true"/>
          <p:nvPr/>
        </p:nvSpPr>
        <p:spPr>
          <a:xfrm rot="0">
            <a:off x="1922412" y="4758185"/>
            <a:ext cx="8515350" cy="1286027"/>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Tanggung jawab: menerima dan memproses antrean, memperbarui status produksi (Sedang Diproses → Siap Diambil), mengelola stok menu harian, dan memastikan pesanan dibuat sesuai catatan.       </a:t>
            </a:r>
          </a:p>
        </p:txBody>
      </p:sp>
      <p:sp>
        <p:nvSpPr>
          <p:cNvPr name="Freeform 17" id="17" descr="preencoded.png"/>
          <p:cNvSpPr/>
          <p:nvPr/>
        </p:nvSpPr>
        <p:spPr>
          <a:xfrm flipH="false" flipV="false" rot="0">
            <a:off x="992238" y="6540256"/>
            <a:ext cx="620163" cy="620163"/>
          </a:xfrm>
          <a:custGeom>
            <a:avLst/>
            <a:gdLst/>
            <a:ahLst/>
            <a:cxnLst/>
            <a:rect r="r" b="b" t="t" l="l"/>
            <a:pathLst>
              <a:path h="620163" w="620163">
                <a:moveTo>
                  <a:pt x="0" y="0"/>
                </a:moveTo>
                <a:lnTo>
                  <a:pt x="620164" y="0"/>
                </a:lnTo>
                <a:lnTo>
                  <a:pt x="620164" y="620163"/>
                </a:lnTo>
                <a:lnTo>
                  <a:pt x="0" y="620163"/>
                </a:lnTo>
                <a:lnTo>
                  <a:pt x="0" y="0"/>
                </a:lnTo>
                <a:close/>
              </a:path>
            </a:pathLst>
          </a:custGeom>
          <a:blipFill>
            <a:blip r:embed="rId10">
              <a:extLst>
                <a:ext uri="{96DAC541-7B7A-43D3-8B79-37D633B846F1}">
                  <asvg:svgBlip xmlns:asvg="http://schemas.microsoft.com/office/drawing/2016/SVG/main" r:embed="rId11"/>
                </a:ext>
              </a:extLst>
            </a:blip>
            <a:stretch>
              <a:fillRect l="-7576" t="0" r="-7574" b="0"/>
            </a:stretch>
          </a:blipFill>
        </p:spPr>
      </p:sp>
      <p:sp>
        <p:nvSpPr>
          <p:cNvPr name="TextBox 18" id="18"/>
          <p:cNvSpPr txBox="true"/>
          <p:nvPr/>
        </p:nvSpPr>
        <p:spPr>
          <a:xfrm rot="0">
            <a:off x="1922412" y="6521206"/>
            <a:ext cx="3101130" cy="406746"/>
          </a:xfrm>
          <a:prstGeom prst="rect">
            <a:avLst/>
          </a:prstGeom>
        </p:spPr>
        <p:txBody>
          <a:bodyPr anchor="t" rtlCol="false" tIns="0" lIns="0" bIns="0" rIns="0">
            <a:spAutoFit/>
          </a:bodyPr>
          <a:lstStyle/>
          <a:p>
            <a:pPr algn="l">
              <a:lnSpc>
                <a:spcPts val="2999"/>
              </a:lnSpc>
            </a:pPr>
            <a:r>
              <a:rPr lang="en-US" sz="2437">
                <a:solidFill>
                  <a:srgbClr val="3C3939"/>
                </a:solidFill>
                <a:latin typeface="Raleway"/>
                <a:ea typeface="Raleway"/>
                <a:cs typeface="Raleway"/>
                <a:sym typeface="Raleway"/>
              </a:rPr>
              <a:t>Pemilik (Owner)</a:t>
            </a:r>
          </a:p>
        </p:txBody>
      </p:sp>
      <p:sp>
        <p:nvSpPr>
          <p:cNvPr name="TextBox 19" id="19"/>
          <p:cNvSpPr txBox="true"/>
          <p:nvPr/>
        </p:nvSpPr>
        <p:spPr>
          <a:xfrm rot="0">
            <a:off x="1922412" y="6981530"/>
            <a:ext cx="8515350" cy="1286027"/>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Tanggung jawab: mengakses dashboard manajerial untuk memantau performa penjualan, melihat rekap pendapatan harian, dan mengambil keputusan bisnis tanpa mengganggu operasional di lapangan.       </a:t>
            </a:r>
          </a:p>
        </p:txBody>
      </p:sp>
      <p:sp>
        <p:nvSpPr>
          <p:cNvPr name="TextBox 20" id="20"/>
          <p:cNvSpPr txBox="true"/>
          <p:nvPr/>
        </p:nvSpPr>
        <p:spPr>
          <a:xfrm rot="0">
            <a:off x="992238" y="8451352"/>
            <a:ext cx="9445523" cy="889102"/>
          </a:xfrm>
          <a:prstGeom prst="rect">
            <a:avLst/>
          </a:prstGeom>
        </p:spPr>
        <p:txBody>
          <a:bodyPr anchor="t" rtlCol="false" tIns="0" lIns="0" bIns="0" rIns="0">
            <a:spAutoFit/>
          </a:bodyPr>
          <a:lstStyle/>
          <a:p>
            <a:pPr algn="l">
              <a:lnSpc>
                <a:spcPts val="3125"/>
              </a:lnSpc>
            </a:pPr>
            <a:r>
              <a:rPr lang="en-US" sz="1937">
                <a:solidFill>
                  <a:srgbClr val="3C3939"/>
                </a:solidFill>
                <a:latin typeface="Roboto"/>
                <a:ea typeface="Roboto"/>
                <a:cs typeface="Roboto"/>
                <a:sym typeface="Roboto"/>
              </a:rPr>
              <a:t> Pembagian peran memastikan tiap aktor memiliki akses dan fungsi yang sesuai sehingga operasi kedai tetap efisien dan terstruktur.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CECF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899217" y="712737"/>
            <a:ext cx="9941423" cy="731196"/>
          </a:xfrm>
          <a:prstGeom prst="rect">
            <a:avLst/>
          </a:prstGeom>
        </p:spPr>
        <p:txBody>
          <a:bodyPr anchor="t" rtlCol="false" tIns="0" lIns="0" bIns="0" rIns="0">
            <a:spAutoFit/>
          </a:bodyPr>
          <a:lstStyle/>
          <a:p>
            <a:pPr algn="l">
              <a:lnSpc>
                <a:spcPts val="5500"/>
              </a:lnSpc>
            </a:pPr>
            <a:r>
              <a:rPr lang="en-US" sz="4375">
                <a:solidFill>
                  <a:srgbClr val="1B1B27"/>
                </a:solidFill>
                <a:latin typeface="Raleway"/>
                <a:ea typeface="Raleway"/>
                <a:cs typeface="Raleway"/>
                <a:sym typeface="Raleway"/>
              </a:rPr>
              <a:t>Analisis Fungsional &amp; Use Case Sistem</a:t>
            </a:r>
          </a:p>
        </p:txBody>
      </p:sp>
      <p:sp>
        <p:nvSpPr>
          <p:cNvPr name="TextBox 7" id="7"/>
          <p:cNvSpPr txBox="true"/>
          <p:nvPr/>
        </p:nvSpPr>
        <p:spPr>
          <a:xfrm rot="0">
            <a:off x="899217" y="1765697"/>
            <a:ext cx="16489566" cy="413158"/>
          </a:xfrm>
          <a:prstGeom prst="rect">
            <a:avLst/>
          </a:prstGeom>
        </p:spPr>
        <p:txBody>
          <a:bodyPr anchor="t" rtlCol="false" tIns="0" lIns="0" bIns="0" rIns="0">
            <a:spAutoFit/>
          </a:bodyPr>
          <a:lstStyle/>
          <a:p>
            <a:pPr algn="l">
              <a:lnSpc>
                <a:spcPts val="3301"/>
              </a:lnSpc>
            </a:pPr>
            <a:r>
              <a:rPr lang="en-US" sz="2149">
                <a:solidFill>
                  <a:srgbClr val="3C3939"/>
                </a:solidFill>
                <a:latin typeface="Roboto"/>
                <a:ea typeface="Roboto"/>
                <a:cs typeface="Roboto"/>
                <a:sym typeface="Roboto"/>
              </a:rPr>
              <a:t>     Use Case merangkum tujuh fungsionalitas utama:</a:t>
            </a:r>
          </a:p>
        </p:txBody>
      </p:sp>
      <p:grpSp>
        <p:nvGrpSpPr>
          <p:cNvPr name="Group 8" id="8"/>
          <p:cNvGrpSpPr/>
          <p:nvPr/>
        </p:nvGrpSpPr>
        <p:grpSpPr>
          <a:xfrm rot="0">
            <a:off x="899217" y="3103664"/>
            <a:ext cx="3969544" cy="2668638"/>
            <a:chOff x="0" y="0"/>
            <a:chExt cx="5292725" cy="3558184"/>
          </a:xfrm>
        </p:grpSpPr>
        <p:sp>
          <p:nvSpPr>
            <p:cNvPr name="Freeform 9" id="9"/>
            <p:cNvSpPr/>
            <p:nvPr/>
          </p:nvSpPr>
          <p:spPr>
            <a:xfrm flipH="false" flipV="false" rot="0">
              <a:off x="0" y="0"/>
              <a:ext cx="5292725" cy="3558159"/>
            </a:xfrm>
            <a:custGeom>
              <a:avLst/>
              <a:gdLst/>
              <a:ahLst/>
              <a:cxnLst/>
              <a:rect r="r" b="b" t="t" l="l"/>
              <a:pathLst>
                <a:path h="3558159" w="5292725">
                  <a:moveTo>
                    <a:pt x="0" y="182880"/>
                  </a:moveTo>
                  <a:cubicBezTo>
                    <a:pt x="0" y="81915"/>
                    <a:pt x="81915" y="0"/>
                    <a:pt x="182880" y="0"/>
                  </a:cubicBezTo>
                  <a:lnTo>
                    <a:pt x="5109845" y="0"/>
                  </a:lnTo>
                  <a:cubicBezTo>
                    <a:pt x="5210810" y="0"/>
                    <a:pt x="5292725" y="81915"/>
                    <a:pt x="5292725" y="182880"/>
                  </a:cubicBezTo>
                  <a:lnTo>
                    <a:pt x="5292725" y="3375279"/>
                  </a:lnTo>
                  <a:cubicBezTo>
                    <a:pt x="5292725" y="3476244"/>
                    <a:pt x="5210810" y="3558159"/>
                    <a:pt x="5109845" y="3558159"/>
                  </a:cubicBezTo>
                  <a:lnTo>
                    <a:pt x="182880" y="3558159"/>
                  </a:lnTo>
                  <a:cubicBezTo>
                    <a:pt x="81915" y="3558159"/>
                    <a:pt x="0" y="3476244"/>
                    <a:pt x="0" y="3375279"/>
                  </a:cubicBezTo>
                  <a:close/>
                </a:path>
              </a:pathLst>
            </a:custGeom>
            <a:solidFill>
              <a:srgbClr val="FFFFFF">
                <a:alpha val="90196"/>
              </a:srgbClr>
            </a:solidFill>
          </p:spPr>
        </p:sp>
      </p:grpSp>
      <p:grpSp>
        <p:nvGrpSpPr>
          <p:cNvPr name="Group 10" id="10"/>
          <p:cNvGrpSpPr/>
          <p:nvPr/>
        </p:nvGrpSpPr>
        <p:grpSpPr>
          <a:xfrm rot="0">
            <a:off x="899217" y="3075089"/>
            <a:ext cx="3969544" cy="114300"/>
            <a:chOff x="0" y="0"/>
            <a:chExt cx="5292725" cy="152400"/>
          </a:xfrm>
        </p:grpSpPr>
        <p:sp>
          <p:nvSpPr>
            <p:cNvPr name="Freeform 11" id="11"/>
            <p:cNvSpPr/>
            <p:nvPr/>
          </p:nvSpPr>
          <p:spPr>
            <a:xfrm flipH="false" flipV="false" rot="0">
              <a:off x="0" y="0"/>
              <a:ext cx="5292725" cy="152400"/>
            </a:xfrm>
            <a:custGeom>
              <a:avLst/>
              <a:gdLst/>
              <a:ahLst/>
              <a:cxnLst/>
              <a:rect r="r" b="b" t="t" l="l"/>
              <a:pathLst>
                <a:path h="152400" w="5292725">
                  <a:moveTo>
                    <a:pt x="0" y="76200"/>
                  </a:moveTo>
                  <a:cubicBezTo>
                    <a:pt x="0" y="34163"/>
                    <a:pt x="34163" y="0"/>
                    <a:pt x="76200" y="0"/>
                  </a:cubicBezTo>
                  <a:lnTo>
                    <a:pt x="5216525" y="0"/>
                  </a:lnTo>
                  <a:cubicBezTo>
                    <a:pt x="5258562" y="0"/>
                    <a:pt x="5292725" y="34163"/>
                    <a:pt x="5292725" y="76200"/>
                  </a:cubicBezTo>
                  <a:cubicBezTo>
                    <a:pt x="5292725" y="118237"/>
                    <a:pt x="5258562" y="152400"/>
                    <a:pt x="5216525" y="152400"/>
                  </a:cubicBezTo>
                  <a:lnTo>
                    <a:pt x="76200" y="152400"/>
                  </a:lnTo>
                  <a:cubicBezTo>
                    <a:pt x="34163" y="152400"/>
                    <a:pt x="0" y="118237"/>
                    <a:pt x="0" y="76200"/>
                  </a:cubicBezTo>
                  <a:close/>
                </a:path>
              </a:pathLst>
            </a:custGeom>
            <a:solidFill>
              <a:srgbClr val="1B1B27"/>
            </a:solidFill>
          </p:spPr>
        </p:sp>
      </p:grpSp>
      <p:grpSp>
        <p:nvGrpSpPr>
          <p:cNvPr name="Group 12" id="12"/>
          <p:cNvGrpSpPr/>
          <p:nvPr/>
        </p:nvGrpSpPr>
        <p:grpSpPr>
          <a:xfrm rot="0">
            <a:off x="2546747" y="2766422"/>
            <a:ext cx="674484" cy="674484"/>
            <a:chOff x="0" y="0"/>
            <a:chExt cx="899312" cy="899312"/>
          </a:xfrm>
        </p:grpSpPr>
        <p:sp>
          <p:nvSpPr>
            <p:cNvPr name="Freeform 13" id="13"/>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14" id="14" descr="preencoded.png"/>
          <p:cNvSpPr/>
          <p:nvPr/>
        </p:nvSpPr>
        <p:spPr>
          <a:xfrm flipH="false" flipV="false" rot="0">
            <a:off x="2749153" y="2968828"/>
            <a:ext cx="269672" cy="269672"/>
          </a:xfrm>
          <a:custGeom>
            <a:avLst/>
            <a:gdLst/>
            <a:ahLst/>
            <a:cxnLst/>
            <a:rect r="r" b="b" t="t" l="l"/>
            <a:pathLst>
              <a:path h="269672" w="269672">
                <a:moveTo>
                  <a:pt x="0" y="0"/>
                </a:moveTo>
                <a:lnTo>
                  <a:pt x="269672" y="0"/>
                </a:lnTo>
                <a:lnTo>
                  <a:pt x="269672" y="269672"/>
                </a:lnTo>
                <a:lnTo>
                  <a:pt x="0" y="269672"/>
                </a:lnTo>
                <a:lnTo>
                  <a:pt x="0" y="0"/>
                </a:lnTo>
                <a:close/>
              </a:path>
            </a:pathLst>
          </a:custGeom>
          <a:blipFill>
            <a:blip r:embed="rId3">
              <a:extLst>
                <a:ext uri="{96DAC541-7B7A-43D3-8B79-37D633B846F1}">
                  <asvg:svgBlip xmlns:asvg="http://schemas.microsoft.com/office/drawing/2016/SVG/main" r:embed="rId4"/>
                </a:ext>
              </a:extLst>
            </a:blip>
            <a:stretch>
              <a:fillRect l="0" t="-5170" r="0" b="-5174"/>
            </a:stretch>
          </a:blipFill>
        </p:spPr>
      </p:sp>
      <p:sp>
        <p:nvSpPr>
          <p:cNvPr name="TextBox 15" id="15"/>
          <p:cNvSpPr txBox="true"/>
          <p:nvPr/>
        </p:nvSpPr>
        <p:spPr>
          <a:xfrm rot="0">
            <a:off x="1152525" y="3646589"/>
            <a:ext cx="3375870" cy="370284"/>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1. Autentikasi &amp; Keamanan</a:t>
            </a:r>
          </a:p>
        </p:txBody>
      </p:sp>
      <p:sp>
        <p:nvSpPr>
          <p:cNvPr name="TextBox 16" id="16"/>
          <p:cNvSpPr txBox="true"/>
          <p:nvPr/>
        </p:nvSpPr>
        <p:spPr>
          <a:xfrm rot="0">
            <a:off x="1152525" y="4081910"/>
            <a:ext cx="3462928" cy="14287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Mengamankan akses pengguna agar data pesanan dan laporan hanya dapat diakses oleh pihak berwenang.       </a:t>
            </a:r>
          </a:p>
        </p:txBody>
      </p:sp>
      <p:grpSp>
        <p:nvGrpSpPr>
          <p:cNvPr name="Group 17" id="17"/>
          <p:cNvGrpSpPr/>
          <p:nvPr/>
        </p:nvGrpSpPr>
        <p:grpSpPr>
          <a:xfrm rot="0">
            <a:off x="5072510" y="3103664"/>
            <a:ext cx="3969544" cy="2668638"/>
            <a:chOff x="0" y="0"/>
            <a:chExt cx="5292725" cy="3558184"/>
          </a:xfrm>
        </p:grpSpPr>
        <p:sp>
          <p:nvSpPr>
            <p:cNvPr name="Freeform 18" id="18"/>
            <p:cNvSpPr/>
            <p:nvPr/>
          </p:nvSpPr>
          <p:spPr>
            <a:xfrm flipH="false" flipV="false" rot="0">
              <a:off x="0" y="0"/>
              <a:ext cx="5292725" cy="3558159"/>
            </a:xfrm>
            <a:custGeom>
              <a:avLst/>
              <a:gdLst/>
              <a:ahLst/>
              <a:cxnLst/>
              <a:rect r="r" b="b" t="t" l="l"/>
              <a:pathLst>
                <a:path h="3558159" w="5292725">
                  <a:moveTo>
                    <a:pt x="0" y="182880"/>
                  </a:moveTo>
                  <a:cubicBezTo>
                    <a:pt x="0" y="81915"/>
                    <a:pt x="81915" y="0"/>
                    <a:pt x="182880" y="0"/>
                  </a:cubicBezTo>
                  <a:lnTo>
                    <a:pt x="5109845" y="0"/>
                  </a:lnTo>
                  <a:cubicBezTo>
                    <a:pt x="5210810" y="0"/>
                    <a:pt x="5292725" y="81915"/>
                    <a:pt x="5292725" y="182880"/>
                  </a:cubicBezTo>
                  <a:lnTo>
                    <a:pt x="5292725" y="3375279"/>
                  </a:lnTo>
                  <a:cubicBezTo>
                    <a:pt x="5292725" y="3476244"/>
                    <a:pt x="5210810" y="3558159"/>
                    <a:pt x="5109845" y="3558159"/>
                  </a:cubicBezTo>
                  <a:lnTo>
                    <a:pt x="182880" y="3558159"/>
                  </a:lnTo>
                  <a:cubicBezTo>
                    <a:pt x="81915" y="3558159"/>
                    <a:pt x="0" y="3476244"/>
                    <a:pt x="0" y="3375279"/>
                  </a:cubicBezTo>
                  <a:close/>
                </a:path>
              </a:pathLst>
            </a:custGeom>
            <a:solidFill>
              <a:srgbClr val="FFFFFF">
                <a:alpha val="90196"/>
              </a:srgbClr>
            </a:solidFill>
          </p:spPr>
        </p:sp>
      </p:grpSp>
      <p:grpSp>
        <p:nvGrpSpPr>
          <p:cNvPr name="Group 19" id="19"/>
          <p:cNvGrpSpPr/>
          <p:nvPr/>
        </p:nvGrpSpPr>
        <p:grpSpPr>
          <a:xfrm rot="0">
            <a:off x="5072510" y="3075089"/>
            <a:ext cx="3969544" cy="114300"/>
            <a:chOff x="0" y="0"/>
            <a:chExt cx="5292725" cy="152400"/>
          </a:xfrm>
        </p:grpSpPr>
        <p:sp>
          <p:nvSpPr>
            <p:cNvPr name="Freeform 20" id="20"/>
            <p:cNvSpPr/>
            <p:nvPr/>
          </p:nvSpPr>
          <p:spPr>
            <a:xfrm flipH="false" flipV="false" rot="0">
              <a:off x="0" y="0"/>
              <a:ext cx="5292725" cy="152400"/>
            </a:xfrm>
            <a:custGeom>
              <a:avLst/>
              <a:gdLst/>
              <a:ahLst/>
              <a:cxnLst/>
              <a:rect r="r" b="b" t="t" l="l"/>
              <a:pathLst>
                <a:path h="152400" w="5292725">
                  <a:moveTo>
                    <a:pt x="0" y="76200"/>
                  </a:moveTo>
                  <a:cubicBezTo>
                    <a:pt x="0" y="34163"/>
                    <a:pt x="34163" y="0"/>
                    <a:pt x="76200" y="0"/>
                  </a:cubicBezTo>
                  <a:lnTo>
                    <a:pt x="5216525" y="0"/>
                  </a:lnTo>
                  <a:cubicBezTo>
                    <a:pt x="5258562" y="0"/>
                    <a:pt x="5292725" y="34163"/>
                    <a:pt x="5292725" y="76200"/>
                  </a:cubicBezTo>
                  <a:cubicBezTo>
                    <a:pt x="5292725" y="118237"/>
                    <a:pt x="5258562" y="152400"/>
                    <a:pt x="5216525" y="152400"/>
                  </a:cubicBezTo>
                  <a:lnTo>
                    <a:pt x="76200" y="152400"/>
                  </a:lnTo>
                  <a:cubicBezTo>
                    <a:pt x="34163" y="152400"/>
                    <a:pt x="0" y="118237"/>
                    <a:pt x="0" y="76200"/>
                  </a:cubicBezTo>
                  <a:close/>
                </a:path>
              </a:pathLst>
            </a:custGeom>
            <a:solidFill>
              <a:srgbClr val="1B1B27"/>
            </a:solidFill>
          </p:spPr>
        </p:sp>
      </p:grpSp>
      <p:grpSp>
        <p:nvGrpSpPr>
          <p:cNvPr name="Group 21" id="21"/>
          <p:cNvGrpSpPr/>
          <p:nvPr/>
        </p:nvGrpSpPr>
        <p:grpSpPr>
          <a:xfrm rot="0">
            <a:off x="6720040" y="2766422"/>
            <a:ext cx="674484" cy="674484"/>
            <a:chOff x="0" y="0"/>
            <a:chExt cx="899312" cy="899312"/>
          </a:xfrm>
        </p:grpSpPr>
        <p:sp>
          <p:nvSpPr>
            <p:cNvPr name="Freeform 22" id="22"/>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23" id="23" descr="preencoded.png"/>
          <p:cNvSpPr/>
          <p:nvPr/>
        </p:nvSpPr>
        <p:spPr>
          <a:xfrm flipH="false" flipV="false" rot="0">
            <a:off x="6922446" y="2968828"/>
            <a:ext cx="269672" cy="269672"/>
          </a:xfrm>
          <a:custGeom>
            <a:avLst/>
            <a:gdLst/>
            <a:ahLst/>
            <a:cxnLst/>
            <a:rect r="r" b="b" t="t" l="l"/>
            <a:pathLst>
              <a:path h="269672" w="269672">
                <a:moveTo>
                  <a:pt x="0" y="0"/>
                </a:moveTo>
                <a:lnTo>
                  <a:pt x="269672" y="0"/>
                </a:lnTo>
                <a:lnTo>
                  <a:pt x="269672" y="269672"/>
                </a:lnTo>
                <a:lnTo>
                  <a:pt x="0" y="269672"/>
                </a:lnTo>
                <a:lnTo>
                  <a:pt x="0" y="0"/>
                </a:lnTo>
                <a:close/>
              </a:path>
            </a:pathLst>
          </a:custGeom>
          <a:blipFill>
            <a:blip r:embed="rId5">
              <a:extLst>
                <a:ext uri="{96DAC541-7B7A-43D3-8B79-37D633B846F1}">
                  <asvg:svgBlip xmlns:asvg="http://schemas.microsoft.com/office/drawing/2016/SVG/main" r:embed="rId6"/>
                </a:ext>
              </a:extLst>
            </a:blip>
            <a:stretch>
              <a:fillRect l="-5170" t="0" r="-5174" b="0"/>
            </a:stretch>
          </a:blipFill>
        </p:spPr>
      </p:sp>
      <p:sp>
        <p:nvSpPr>
          <p:cNvPr name="TextBox 24" id="24"/>
          <p:cNvSpPr txBox="true"/>
          <p:nvPr/>
        </p:nvSpPr>
        <p:spPr>
          <a:xfrm rot="0">
            <a:off x="5325818" y="3646589"/>
            <a:ext cx="3462928" cy="721519"/>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2. Pembuatan Pesanan &amp; Kustomisasi</a:t>
            </a:r>
          </a:p>
        </p:txBody>
      </p:sp>
      <p:sp>
        <p:nvSpPr>
          <p:cNvPr name="TextBox 25" id="25"/>
          <p:cNvSpPr txBox="true"/>
          <p:nvPr/>
        </p:nvSpPr>
        <p:spPr>
          <a:xfrm rot="0">
            <a:off x="5325818" y="4433145"/>
            <a:ext cx="3462928" cy="10858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Menyimpan preferensi dan instruksi khusus pelanggan secara permanen dalam tiap pesanan.       </a:t>
            </a:r>
          </a:p>
        </p:txBody>
      </p:sp>
      <p:grpSp>
        <p:nvGrpSpPr>
          <p:cNvPr name="Group 26" id="26"/>
          <p:cNvGrpSpPr/>
          <p:nvPr/>
        </p:nvGrpSpPr>
        <p:grpSpPr>
          <a:xfrm rot="0">
            <a:off x="9245803" y="3103664"/>
            <a:ext cx="3969544" cy="2668638"/>
            <a:chOff x="0" y="0"/>
            <a:chExt cx="5292725" cy="3558184"/>
          </a:xfrm>
        </p:grpSpPr>
        <p:sp>
          <p:nvSpPr>
            <p:cNvPr name="Freeform 27" id="27"/>
            <p:cNvSpPr/>
            <p:nvPr/>
          </p:nvSpPr>
          <p:spPr>
            <a:xfrm flipH="false" flipV="false" rot="0">
              <a:off x="0" y="0"/>
              <a:ext cx="5292725" cy="3558159"/>
            </a:xfrm>
            <a:custGeom>
              <a:avLst/>
              <a:gdLst/>
              <a:ahLst/>
              <a:cxnLst/>
              <a:rect r="r" b="b" t="t" l="l"/>
              <a:pathLst>
                <a:path h="3558159" w="5292725">
                  <a:moveTo>
                    <a:pt x="0" y="182880"/>
                  </a:moveTo>
                  <a:cubicBezTo>
                    <a:pt x="0" y="81915"/>
                    <a:pt x="81915" y="0"/>
                    <a:pt x="182880" y="0"/>
                  </a:cubicBezTo>
                  <a:lnTo>
                    <a:pt x="5109845" y="0"/>
                  </a:lnTo>
                  <a:cubicBezTo>
                    <a:pt x="5210810" y="0"/>
                    <a:pt x="5292725" y="81915"/>
                    <a:pt x="5292725" y="182880"/>
                  </a:cubicBezTo>
                  <a:lnTo>
                    <a:pt x="5292725" y="3375279"/>
                  </a:lnTo>
                  <a:cubicBezTo>
                    <a:pt x="5292725" y="3476244"/>
                    <a:pt x="5210810" y="3558159"/>
                    <a:pt x="5109845" y="3558159"/>
                  </a:cubicBezTo>
                  <a:lnTo>
                    <a:pt x="182880" y="3558159"/>
                  </a:lnTo>
                  <a:cubicBezTo>
                    <a:pt x="81915" y="3558159"/>
                    <a:pt x="0" y="3476244"/>
                    <a:pt x="0" y="3375279"/>
                  </a:cubicBezTo>
                  <a:close/>
                </a:path>
              </a:pathLst>
            </a:custGeom>
            <a:solidFill>
              <a:srgbClr val="FFFFFF">
                <a:alpha val="90196"/>
              </a:srgbClr>
            </a:solidFill>
          </p:spPr>
        </p:sp>
      </p:grpSp>
      <p:grpSp>
        <p:nvGrpSpPr>
          <p:cNvPr name="Group 28" id="28"/>
          <p:cNvGrpSpPr/>
          <p:nvPr/>
        </p:nvGrpSpPr>
        <p:grpSpPr>
          <a:xfrm rot="0">
            <a:off x="9245803" y="3075089"/>
            <a:ext cx="3969544" cy="114300"/>
            <a:chOff x="0" y="0"/>
            <a:chExt cx="5292725" cy="152400"/>
          </a:xfrm>
        </p:grpSpPr>
        <p:sp>
          <p:nvSpPr>
            <p:cNvPr name="Freeform 29" id="29"/>
            <p:cNvSpPr/>
            <p:nvPr/>
          </p:nvSpPr>
          <p:spPr>
            <a:xfrm flipH="false" flipV="false" rot="0">
              <a:off x="0" y="0"/>
              <a:ext cx="5292725" cy="152400"/>
            </a:xfrm>
            <a:custGeom>
              <a:avLst/>
              <a:gdLst/>
              <a:ahLst/>
              <a:cxnLst/>
              <a:rect r="r" b="b" t="t" l="l"/>
              <a:pathLst>
                <a:path h="152400" w="5292725">
                  <a:moveTo>
                    <a:pt x="0" y="76200"/>
                  </a:moveTo>
                  <a:cubicBezTo>
                    <a:pt x="0" y="34163"/>
                    <a:pt x="34163" y="0"/>
                    <a:pt x="76200" y="0"/>
                  </a:cubicBezTo>
                  <a:lnTo>
                    <a:pt x="5216525" y="0"/>
                  </a:lnTo>
                  <a:cubicBezTo>
                    <a:pt x="5258562" y="0"/>
                    <a:pt x="5292725" y="34163"/>
                    <a:pt x="5292725" y="76200"/>
                  </a:cubicBezTo>
                  <a:cubicBezTo>
                    <a:pt x="5292725" y="118237"/>
                    <a:pt x="5258562" y="152400"/>
                    <a:pt x="5216525" y="152400"/>
                  </a:cubicBezTo>
                  <a:lnTo>
                    <a:pt x="76200" y="152400"/>
                  </a:lnTo>
                  <a:cubicBezTo>
                    <a:pt x="34163" y="152400"/>
                    <a:pt x="0" y="118237"/>
                    <a:pt x="0" y="76200"/>
                  </a:cubicBezTo>
                  <a:close/>
                </a:path>
              </a:pathLst>
            </a:custGeom>
            <a:solidFill>
              <a:srgbClr val="1B1B27"/>
            </a:solidFill>
          </p:spPr>
        </p:sp>
      </p:grpSp>
      <p:grpSp>
        <p:nvGrpSpPr>
          <p:cNvPr name="Group 30" id="30"/>
          <p:cNvGrpSpPr/>
          <p:nvPr/>
        </p:nvGrpSpPr>
        <p:grpSpPr>
          <a:xfrm rot="0">
            <a:off x="10893323" y="2766422"/>
            <a:ext cx="674484" cy="674484"/>
            <a:chOff x="0" y="0"/>
            <a:chExt cx="899312" cy="899312"/>
          </a:xfrm>
        </p:grpSpPr>
        <p:sp>
          <p:nvSpPr>
            <p:cNvPr name="Freeform 31" id="31"/>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32" id="32" descr="preencoded.png"/>
          <p:cNvSpPr/>
          <p:nvPr/>
        </p:nvSpPr>
        <p:spPr>
          <a:xfrm flipH="false" flipV="false" rot="0">
            <a:off x="11095730" y="2968828"/>
            <a:ext cx="269672" cy="269672"/>
          </a:xfrm>
          <a:custGeom>
            <a:avLst/>
            <a:gdLst/>
            <a:ahLst/>
            <a:cxnLst/>
            <a:rect r="r" b="b" t="t" l="l"/>
            <a:pathLst>
              <a:path h="269672" w="269672">
                <a:moveTo>
                  <a:pt x="0" y="0"/>
                </a:moveTo>
                <a:lnTo>
                  <a:pt x="269671" y="0"/>
                </a:lnTo>
                <a:lnTo>
                  <a:pt x="269671" y="269672"/>
                </a:lnTo>
                <a:lnTo>
                  <a:pt x="0" y="269672"/>
                </a:lnTo>
                <a:lnTo>
                  <a:pt x="0" y="0"/>
                </a:lnTo>
                <a:close/>
              </a:path>
            </a:pathLst>
          </a:custGeom>
          <a:blipFill>
            <a:blip r:embed="rId7">
              <a:extLst>
                <a:ext uri="{96DAC541-7B7A-43D3-8B79-37D633B846F1}">
                  <asvg:svgBlip xmlns:asvg="http://schemas.microsoft.com/office/drawing/2016/SVG/main" r:embed="rId8"/>
                </a:ext>
              </a:extLst>
            </a:blip>
            <a:stretch>
              <a:fillRect l="0" t="-17240" r="0" b="-17243"/>
            </a:stretch>
          </a:blipFill>
        </p:spPr>
      </p:sp>
      <p:sp>
        <p:nvSpPr>
          <p:cNvPr name="TextBox 33" id="33"/>
          <p:cNvSpPr txBox="true"/>
          <p:nvPr/>
        </p:nvSpPr>
        <p:spPr>
          <a:xfrm rot="0">
            <a:off x="9499102" y="3646589"/>
            <a:ext cx="3462928" cy="721519"/>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3. Manajemen Antrean (FIFO)</a:t>
            </a:r>
          </a:p>
        </p:txBody>
      </p:sp>
      <p:sp>
        <p:nvSpPr>
          <p:cNvPr name="TextBox 34" id="34"/>
          <p:cNvSpPr txBox="true"/>
          <p:nvPr/>
        </p:nvSpPr>
        <p:spPr>
          <a:xfrm rot="0">
            <a:off x="9499102" y="4433145"/>
            <a:ext cx="3462928" cy="10858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Menjamin urutan layanan adil dan transparan untuk semua pelanggan.       </a:t>
            </a:r>
          </a:p>
        </p:txBody>
      </p:sp>
      <p:grpSp>
        <p:nvGrpSpPr>
          <p:cNvPr name="Group 35" id="35"/>
          <p:cNvGrpSpPr/>
          <p:nvPr/>
        </p:nvGrpSpPr>
        <p:grpSpPr>
          <a:xfrm rot="0">
            <a:off x="13419087" y="3103664"/>
            <a:ext cx="3969696" cy="2668638"/>
            <a:chOff x="0" y="0"/>
            <a:chExt cx="5292928" cy="3558184"/>
          </a:xfrm>
        </p:grpSpPr>
        <p:sp>
          <p:nvSpPr>
            <p:cNvPr name="Freeform 36" id="36"/>
            <p:cNvSpPr/>
            <p:nvPr/>
          </p:nvSpPr>
          <p:spPr>
            <a:xfrm flipH="false" flipV="false" rot="0">
              <a:off x="0" y="0"/>
              <a:ext cx="5292852" cy="3558159"/>
            </a:xfrm>
            <a:custGeom>
              <a:avLst/>
              <a:gdLst/>
              <a:ahLst/>
              <a:cxnLst/>
              <a:rect r="r" b="b" t="t" l="l"/>
              <a:pathLst>
                <a:path h="3558159" w="5292852">
                  <a:moveTo>
                    <a:pt x="0" y="182880"/>
                  </a:moveTo>
                  <a:cubicBezTo>
                    <a:pt x="0" y="81915"/>
                    <a:pt x="81915" y="0"/>
                    <a:pt x="182880" y="0"/>
                  </a:cubicBezTo>
                  <a:lnTo>
                    <a:pt x="5109972" y="0"/>
                  </a:lnTo>
                  <a:cubicBezTo>
                    <a:pt x="5210937" y="0"/>
                    <a:pt x="5292852" y="81915"/>
                    <a:pt x="5292852" y="182880"/>
                  </a:cubicBezTo>
                  <a:lnTo>
                    <a:pt x="5292852" y="3375279"/>
                  </a:lnTo>
                  <a:cubicBezTo>
                    <a:pt x="5292852" y="3476244"/>
                    <a:pt x="5210937" y="3558159"/>
                    <a:pt x="5109972" y="3558159"/>
                  </a:cubicBezTo>
                  <a:lnTo>
                    <a:pt x="182880" y="3558159"/>
                  </a:lnTo>
                  <a:cubicBezTo>
                    <a:pt x="81915" y="3558159"/>
                    <a:pt x="0" y="3476244"/>
                    <a:pt x="0" y="3375279"/>
                  </a:cubicBezTo>
                  <a:close/>
                </a:path>
              </a:pathLst>
            </a:custGeom>
            <a:solidFill>
              <a:srgbClr val="FFFFFF">
                <a:alpha val="90196"/>
              </a:srgbClr>
            </a:solidFill>
          </p:spPr>
        </p:sp>
      </p:grpSp>
      <p:grpSp>
        <p:nvGrpSpPr>
          <p:cNvPr name="Group 37" id="37"/>
          <p:cNvGrpSpPr/>
          <p:nvPr/>
        </p:nvGrpSpPr>
        <p:grpSpPr>
          <a:xfrm rot="0">
            <a:off x="13419087" y="3075089"/>
            <a:ext cx="3969696" cy="114300"/>
            <a:chOff x="0" y="0"/>
            <a:chExt cx="5292928" cy="152400"/>
          </a:xfrm>
        </p:grpSpPr>
        <p:sp>
          <p:nvSpPr>
            <p:cNvPr name="Freeform 38" id="38"/>
            <p:cNvSpPr/>
            <p:nvPr/>
          </p:nvSpPr>
          <p:spPr>
            <a:xfrm flipH="false" flipV="false" rot="0">
              <a:off x="0" y="0"/>
              <a:ext cx="5292979" cy="152400"/>
            </a:xfrm>
            <a:custGeom>
              <a:avLst/>
              <a:gdLst/>
              <a:ahLst/>
              <a:cxnLst/>
              <a:rect r="r" b="b" t="t" l="l"/>
              <a:pathLst>
                <a:path h="152400" w="5292979">
                  <a:moveTo>
                    <a:pt x="0" y="76200"/>
                  </a:moveTo>
                  <a:cubicBezTo>
                    <a:pt x="0" y="34163"/>
                    <a:pt x="34163" y="0"/>
                    <a:pt x="76200" y="0"/>
                  </a:cubicBezTo>
                  <a:lnTo>
                    <a:pt x="5216779" y="0"/>
                  </a:lnTo>
                  <a:cubicBezTo>
                    <a:pt x="5258816" y="0"/>
                    <a:pt x="5292979" y="34163"/>
                    <a:pt x="5292979" y="76200"/>
                  </a:cubicBezTo>
                  <a:cubicBezTo>
                    <a:pt x="5292979" y="118237"/>
                    <a:pt x="5258816" y="152400"/>
                    <a:pt x="5216779" y="152400"/>
                  </a:cubicBezTo>
                  <a:lnTo>
                    <a:pt x="76200" y="152400"/>
                  </a:lnTo>
                  <a:cubicBezTo>
                    <a:pt x="34163" y="152400"/>
                    <a:pt x="0" y="118237"/>
                    <a:pt x="0" y="76200"/>
                  </a:cubicBezTo>
                  <a:close/>
                </a:path>
              </a:pathLst>
            </a:custGeom>
            <a:solidFill>
              <a:srgbClr val="1B1B27"/>
            </a:solidFill>
          </p:spPr>
        </p:sp>
      </p:grpSp>
      <p:grpSp>
        <p:nvGrpSpPr>
          <p:cNvPr name="Group 39" id="39"/>
          <p:cNvGrpSpPr/>
          <p:nvPr/>
        </p:nvGrpSpPr>
        <p:grpSpPr>
          <a:xfrm rot="0">
            <a:off x="15066616" y="2766422"/>
            <a:ext cx="674484" cy="674484"/>
            <a:chOff x="0" y="0"/>
            <a:chExt cx="899312" cy="899312"/>
          </a:xfrm>
        </p:grpSpPr>
        <p:sp>
          <p:nvSpPr>
            <p:cNvPr name="Freeform 40" id="40"/>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41" id="41" descr="preencoded.png"/>
          <p:cNvSpPr/>
          <p:nvPr/>
        </p:nvSpPr>
        <p:spPr>
          <a:xfrm flipH="false" flipV="false" rot="0">
            <a:off x="15269023" y="2968828"/>
            <a:ext cx="269672" cy="269672"/>
          </a:xfrm>
          <a:custGeom>
            <a:avLst/>
            <a:gdLst/>
            <a:ahLst/>
            <a:cxnLst/>
            <a:rect r="r" b="b" t="t" l="l"/>
            <a:pathLst>
              <a:path h="269672" w="269672">
                <a:moveTo>
                  <a:pt x="0" y="0"/>
                </a:moveTo>
                <a:lnTo>
                  <a:pt x="269671" y="0"/>
                </a:lnTo>
                <a:lnTo>
                  <a:pt x="269671" y="269672"/>
                </a:lnTo>
                <a:lnTo>
                  <a:pt x="0" y="269672"/>
                </a:lnTo>
                <a:lnTo>
                  <a:pt x="0" y="0"/>
                </a:lnTo>
                <a:close/>
              </a:path>
            </a:pathLst>
          </a:custGeom>
          <a:blipFill>
            <a:blip r:embed="rId9">
              <a:extLst>
                <a:ext uri="{96DAC541-7B7A-43D3-8B79-37D633B846F1}">
                  <asvg:svgBlip xmlns:asvg="http://schemas.microsoft.com/office/drawing/2016/SVG/main" r:embed="rId10"/>
                </a:ext>
              </a:extLst>
            </a:blip>
            <a:stretch>
              <a:fillRect l="-1723" t="0" r="-1727" b="0"/>
            </a:stretch>
          </a:blipFill>
        </p:spPr>
      </p:sp>
      <p:sp>
        <p:nvSpPr>
          <p:cNvPr name="TextBox 42" id="42"/>
          <p:cNvSpPr txBox="true"/>
          <p:nvPr/>
        </p:nvSpPr>
        <p:spPr>
          <a:xfrm rot="0">
            <a:off x="13672395" y="3646589"/>
            <a:ext cx="3463080" cy="721519"/>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4. Integrasi Pembayaran QRIS</a:t>
            </a:r>
          </a:p>
        </p:txBody>
      </p:sp>
      <p:sp>
        <p:nvSpPr>
          <p:cNvPr name="TextBox 43" id="43"/>
          <p:cNvSpPr txBox="true"/>
          <p:nvPr/>
        </p:nvSpPr>
        <p:spPr>
          <a:xfrm rot="0">
            <a:off x="13672395" y="4433145"/>
            <a:ext cx="3463080" cy="7429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Mempercepat transaksi dan meminimalkan handling tunai.       </a:t>
            </a:r>
          </a:p>
        </p:txBody>
      </p:sp>
      <p:grpSp>
        <p:nvGrpSpPr>
          <p:cNvPr name="Group 44" id="44"/>
          <p:cNvGrpSpPr/>
          <p:nvPr/>
        </p:nvGrpSpPr>
        <p:grpSpPr>
          <a:xfrm rot="0">
            <a:off x="899217" y="6313284"/>
            <a:ext cx="5360641" cy="2317404"/>
            <a:chOff x="0" y="0"/>
            <a:chExt cx="7147522" cy="3089872"/>
          </a:xfrm>
        </p:grpSpPr>
        <p:sp>
          <p:nvSpPr>
            <p:cNvPr name="Freeform 45" id="45"/>
            <p:cNvSpPr/>
            <p:nvPr/>
          </p:nvSpPr>
          <p:spPr>
            <a:xfrm flipH="false" flipV="false" rot="0">
              <a:off x="0" y="0"/>
              <a:ext cx="7147560" cy="3089910"/>
            </a:xfrm>
            <a:custGeom>
              <a:avLst/>
              <a:gdLst/>
              <a:ahLst/>
              <a:cxnLst/>
              <a:rect r="r" b="b" t="t" l="l"/>
              <a:pathLst>
                <a:path h="3089910" w="7147560">
                  <a:moveTo>
                    <a:pt x="0" y="182880"/>
                  </a:moveTo>
                  <a:cubicBezTo>
                    <a:pt x="0" y="81915"/>
                    <a:pt x="81915" y="0"/>
                    <a:pt x="182880" y="0"/>
                  </a:cubicBezTo>
                  <a:lnTo>
                    <a:pt x="6964680" y="0"/>
                  </a:lnTo>
                  <a:cubicBezTo>
                    <a:pt x="7065645" y="0"/>
                    <a:pt x="7147560" y="81915"/>
                    <a:pt x="7147560" y="182880"/>
                  </a:cubicBezTo>
                  <a:lnTo>
                    <a:pt x="7147560" y="2907030"/>
                  </a:lnTo>
                  <a:cubicBezTo>
                    <a:pt x="7147560" y="3007995"/>
                    <a:pt x="7065645" y="3089910"/>
                    <a:pt x="6964680" y="3089910"/>
                  </a:cubicBezTo>
                  <a:lnTo>
                    <a:pt x="182880" y="3089910"/>
                  </a:lnTo>
                  <a:cubicBezTo>
                    <a:pt x="81915" y="3089910"/>
                    <a:pt x="0" y="3007995"/>
                    <a:pt x="0" y="2907030"/>
                  </a:cubicBezTo>
                  <a:close/>
                </a:path>
              </a:pathLst>
            </a:custGeom>
            <a:solidFill>
              <a:srgbClr val="FFFFFF">
                <a:alpha val="90196"/>
              </a:srgbClr>
            </a:solidFill>
          </p:spPr>
        </p:sp>
      </p:grpSp>
      <p:grpSp>
        <p:nvGrpSpPr>
          <p:cNvPr name="Group 46" id="46"/>
          <p:cNvGrpSpPr/>
          <p:nvPr/>
        </p:nvGrpSpPr>
        <p:grpSpPr>
          <a:xfrm rot="0">
            <a:off x="899217" y="6284709"/>
            <a:ext cx="5360641" cy="114300"/>
            <a:chOff x="0" y="0"/>
            <a:chExt cx="7147522" cy="152400"/>
          </a:xfrm>
        </p:grpSpPr>
        <p:sp>
          <p:nvSpPr>
            <p:cNvPr name="Freeform 47" id="47"/>
            <p:cNvSpPr/>
            <p:nvPr/>
          </p:nvSpPr>
          <p:spPr>
            <a:xfrm flipH="false" flipV="false" rot="0">
              <a:off x="0" y="0"/>
              <a:ext cx="7147560" cy="152400"/>
            </a:xfrm>
            <a:custGeom>
              <a:avLst/>
              <a:gdLst/>
              <a:ahLst/>
              <a:cxnLst/>
              <a:rect r="r" b="b" t="t" l="l"/>
              <a:pathLst>
                <a:path h="152400" w="7147560">
                  <a:moveTo>
                    <a:pt x="0" y="76200"/>
                  </a:moveTo>
                  <a:cubicBezTo>
                    <a:pt x="0" y="34163"/>
                    <a:pt x="34163" y="0"/>
                    <a:pt x="76200" y="0"/>
                  </a:cubicBezTo>
                  <a:lnTo>
                    <a:pt x="7071360" y="0"/>
                  </a:lnTo>
                  <a:cubicBezTo>
                    <a:pt x="7113397" y="0"/>
                    <a:pt x="7147560" y="34163"/>
                    <a:pt x="7147560" y="76200"/>
                  </a:cubicBezTo>
                  <a:cubicBezTo>
                    <a:pt x="7147560" y="118237"/>
                    <a:pt x="7113397" y="152400"/>
                    <a:pt x="7071360" y="152400"/>
                  </a:cubicBezTo>
                  <a:lnTo>
                    <a:pt x="76200" y="152400"/>
                  </a:lnTo>
                  <a:cubicBezTo>
                    <a:pt x="34163" y="152400"/>
                    <a:pt x="0" y="118237"/>
                    <a:pt x="0" y="76200"/>
                  </a:cubicBezTo>
                  <a:close/>
                </a:path>
              </a:pathLst>
            </a:custGeom>
            <a:solidFill>
              <a:srgbClr val="1B1B27"/>
            </a:solidFill>
          </p:spPr>
        </p:sp>
      </p:grpSp>
      <p:grpSp>
        <p:nvGrpSpPr>
          <p:cNvPr name="Group 48" id="48"/>
          <p:cNvGrpSpPr/>
          <p:nvPr/>
        </p:nvGrpSpPr>
        <p:grpSpPr>
          <a:xfrm rot="0">
            <a:off x="3242224" y="5976042"/>
            <a:ext cx="674484" cy="674484"/>
            <a:chOff x="0" y="0"/>
            <a:chExt cx="899312" cy="899312"/>
          </a:xfrm>
        </p:grpSpPr>
        <p:sp>
          <p:nvSpPr>
            <p:cNvPr name="Freeform 49" id="49"/>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50" id="50" descr="preencoded.png"/>
          <p:cNvSpPr/>
          <p:nvPr/>
        </p:nvSpPr>
        <p:spPr>
          <a:xfrm flipH="false" flipV="false" rot="0">
            <a:off x="3444631" y="6178448"/>
            <a:ext cx="269672" cy="269672"/>
          </a:xfrm>
          <a:custGeom>
            <a:avLst/>
            <a:gdLst/>
            <a:ahLst/>
            <a:cxnLst/>
            <a:rect r="r" b="b" t="t" l="l"/>
            <a:pathLst>
              <a:path h="269672" w="269672">
                <a:moveTo>
                  <a:pt x="0" y="0"/>
                </a:moveTo>
                <a:lnTo>
                  <a:pt x="269671" y="0"/>
                </a:lnTo>
                <a:lnTo>
                  <a:pt x="269671" y="269672"/>
                </a:lnTo>
                <a:lnTo>
                  <a:pt x="0" y="269672"/>
                </a:lnTo>
                <a:lnTo>
                  <a:pt x="0" y="0"/>
                </a:lnTo>
                <a:close/>
              </a:path>
            </a:pathLst>
          </a:custGeom>
          <a:blipFill>
            <a:blip r:embed="rId11">
              <a:extLst>
                <a:ext uri="{96DAC541-7B7A-43D3-8B79-37D633B846F1}">
                  <asvg:svgBlip xmlns:asvg="http://schemas.microsoft.com/office/drawing/2016/SVG/main" r:embed="rId12"/>
                </a:ext>
              </a:extLst>
            </a:blip>
            <a:stretch>
              <a:fillRect l="-3447" t="0" r="-3450" b="0"/>
            </a:stretch>
          </a:blipFill>
        </p:spPr>
      </p:sp>
      <p:sp>
        <p:nvSpPr>
          <p:cNvPr name="TextBox 51" id="51"/>
          <p:cNvSpPr txBox="true"/>
          <p:nvPr/>
        </p:nvSpPr>
        <p:spPr>
          <a:xfrm rot="0">
            <a:off x="1152525" y="6856209"/>
            <a:ext cx="2810323" cy="370284"/>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5. Notifikasi Otomatis</a:t>
            </a:r>
          </a:p>
        </p:txBody>
      </p:sp>
      <p:sp>
        <p:nvSpPr>
          <p:cNvPr name="TextBox 52" id="52"/>
          <p:cNvSpPr txBox="true"/>
          <p:nvPr/>
        </p:nvSpPr>
        <p:spPr>
          <a:xfrm rot="0">
            <a:off x="1152525" y="7291540"/>
            <a:ext cx="4854026" cy="7429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Mengganti pemanggilan suara dengan pemberitahuan digital saat pesanan siap.       </a:t>
            </a:r>
          </a:p>
        </p:txBody>
      </p:sp>
      <p:grpSp>
        <p:nvGrpSpPr>
          <p:cNvPr name="Group 53" id="53"/>
          <p:cNvGrpSpPr/>
          <p:nvPr/>
        </p:nvGrpSpPr>
        <p:grpSpPr>
          <a:xfrm rot="0">
            <a:off x="6463608" y="6313284"/>
            <a:ext cx="5360641" cy="2317404"/>
            <a:chOff x="0" y="0"/>
            <a:chExt cx="7147522" cy="3089872"/>
          </a:xfrm>
        </p:grpSpPr>
        <p:sp>
          <p:nvSpPr>
            <p:cNvPr name="Freeform 54" id="54"/>
            <p:cNvSpPr/>
            <p:nvPr/>
          </p:nvSpPr>
          <p:spPr>
            <a:xfrm flipH="false" flipV="false" rot="0">
              <a:off x="0" y="0"/>
              <a:ext cx="7147560" cy="3089910"/>
            </a:xfrm>
            <a:custGeom>
              <a:avLst/>
              <a:gdLst/>
              <a:ahLst/>
              <a:cxnLst/>
              <a:rect r="r" b="b" t="t" l="l"/>
              <a:pathLst>
                <a:path h="3089910" w="7147560">
                  <a:moveTo>
                    <a:pt x="0" y="182880"/>
                  </a:moveTo>
                  <a:cubicBezTo>
                    <a:pt x="0" y="81915"/>
                    <a:pt x="81915" y="0"/>
                    <a:pt x="182880" y="0"/>
                  </a:cubicBezTo>
                  <a:lnTo>
                    <a:pt x="6964680" y="0"/>
                  </a:lnTo>
                  <a:cubicBezTo>
                    <a:pt x="7065645" y="0"/>
                    <a:pt x="7147560" y="81915"/>
                    <a:pt x="7147560" y="182880"/>
                  </a:cubicBezTo>
                  <a:lnTo>
                    <a:pt x="7147560" y="2907030"/>
                  </a:lnTo>
                  <a:cubicBezTo>
                    <a:pt x="7147560" y="3007995"/>
                    <a:pt x="7065645" y="3089910"/>
                    <a:pt x="6964680" y="3089910"/>
                  </a:cubicBezTo>
                  <a:lnTo>
                    <a:pt x="182880" y="3089910"/>
                  </a:lnTo>
                  <a:cubicBezTo>
                    <a:pt x="81915" y="3089910"/>
                    <a:pt x="0" y="3007995"/>
                    <a:pt x="0" y="2907030"/>
                  </a:cubicBezTo>
                  <a:close/>
                </a:path>
              </a:pathLst>
            </a:custGeom>
            <a:solidFill>
              <a:srgbClr val="FFFFFF">
                <a:alpha val="90196"/>
              </a:srgbClr>
            </a:solidFill>
          </p:spPr>
        </p:sp>
      </p:grpSp>
      <p:grpSp>
        <p:nvGrpSpPr>
          <p:cNvPr name="Group 55" id="55"/>
          <p:cNvGrpSpPr/>
          <p:nvPr/>
        </p:nvGrpSpPr>
        <p:grpSpPr>
          <a:xfrm rot="0">
            <a:off x="6463608" y="6284709"/>
            <a:ext cx="5360641" cy="114300"/>
            <a:chOff x="0" y="0"/>
            <a:chExt cx="7147522" cy="152400"/>
          </a:xfrm>
        </p:grpSpPr>
        <p:sp>
          <p:nvSpPr>
            <p:cNvPr name="Freeform 56" id="56"/>
            <p:cNvSpPr/>
            <p:nvPr/>
          </p:nvSpPr>
          <p:spPr>
            <a:xfrm flipH="false" flipV="false" rot="0">
              <a:off x="0" y="0"/>
              <a:ext cx="7147560" cy="152400"/>
            </a:xfrm>
            <a:custGeom>
              <a:avLst/>
              <a:gdLst/>
              <a:ahLst/>
              <a:cxnLst/>
              <a:rect r="r" b="b" t="t" l="l"/>
              <a:pathLst>
                <a:path h="152400" w="7147560">
                  <a:moveTo>
                    <a:pt x="0" y="76200"/>
                  </a:moveTo>
                  <a:cubicBezTo>
                    <a:pt x="0" y="34163"/>
                    <a:pt x="34163" y="0"/>
                    <a:pt x="76200" y="0"/>
                  </a:cubicBezTo>
                  <a:lnTo>
                    <a:pt x="7071360" y="0"/>
                  </a:lnTo>
                  <a:cubicBezTo>
                    <a:pt x="7113397" y="0"/>
                    <a:pt x="7147560" y="34163"/>
                    <a:pt x="7147560" y="76200"/>
                  </a:cubicBezTo>
                  <a:cubicBezTo>
                    <a:pt x="7147560" y="118237"/>
                    <a:pt x="7113397" y="152400"/>
                    <a:pt x="7071360" y="152400"/>
                  </a:cubicBezTo>
                  <a:lnTo>
                    <a:pt x="76200" y="152400"/>
                  </a:lnTo>
                  <a:cubicBezTo>
                    <a:pt x="34163" y="152400"/>
                    <a:pt x="0" y="118237"/>
                    <a:pt x="0" y="76200"/>
                  </a:cubicBezTo>
                  <a:close/>
                </a:path>
              </a:pathLst>
            </a:custGeom>
            <a:solidFill>
              <a:srgbClr val="1B1B27"/>
            </a:solidFill>
          </p:spPr>
        </p:sp>
      </p:grpSp>
      <p:grpSp>
        <p:nvGrpSpPr>
          <p:cNvPr name="Group 57" id="57"/>
          <p:cNvGrpSpPr/>
          <p:nvPr/>
        </p:nvGrpSpPr>
        <p:grpSpPr>
          <a:xfrm rot="0">
            <a:off x="8806605" y="5976042"/>
            <a:ext cx="674484" cy="674484"/>
            <a:chOff x="0" y="0"/>
            <a:chExt cx="899312" cy="899312"/>
          </a:xfrm>
        </p:grpSpPr>
        <p:sp>
          <p:nvSpPr>
            <p:cNvPr name="Freeform 58" id="58"/>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59" id="59" descr="preencoded.png"/>
          <p:cNvSpPr/>
          <p:nvPr/>
        </p:nvSpPr>
        <p:spPr>
          <a:xfrm flipH="false" flipV="false" rot="0">
            <a:off x="9009012" y="6178448"/>
            <a:ext cx="269672" cy="269672"/>
          </a:xfrm>
          <a:custGeom>
            <a:avLst/>
            <a:gdLst/>
            <a:ahLst/>
            <a:cxnLst/>
            <a:rect r="r" b="b" t="t" l="l"/>
            <a:pathLst>
              <a:path h="269672" w="269672">
                <a:moveTo>
                  <a:pt x="0" y="0"/>
                </a:moveTo>
                <a:lnTo>
                  <a:pt x="269672" y="0"/>
                </a:lnTo>
                <a:lnTo>
                  <a:pt x="269672" y="269672"/>
                </a:lnTo>
                <a:lnTo>
                  <a:pt x="0" y="269672"/>
                </a:lnTo>
                <a:lnTo>
                  <a:pt x="0" y="0"/>
                </a:lnTo>
                <a:close/>
              </a:path>
            </a:pathLst>
          </a:custGeom>
          <a:blipFill>
            <a:blip r:embed="rId13">
              <a:extLst>
                <a:ext uri="{96DAC541-7B7A-43D3-8B79-37D633B846F1}">
                  <asvg:svgBlip xmlns:asvg="http://schemas.microsoft.com/office/drawing/2016/SVG/main" r:embed="rId14"/>
                </a:ext>
              </a:extLst>
            </a:blip>
            <a:stretch>
              <a:fillRect l="-1723" t="0" r="-1727" b="0"/>
            </a:stretch>
          </a:blipFill>
        </p:spPr>
      </p:sp>
      <p:sp>
        <p:nvSpPr>
          <p:cNvPr name="TextBox 60" id="60"/>
          <p:cNvSpPr txBox="true"/>
          <p:nvPr/>
        </p:nvSpPr>
        <p:spPr>
          <a:xfrm rot="0">
            <a:off x="6716916" y="6856209"/>
            <a:ext cx="3542557" cy="370284"/>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6. Manajemen Menu &amp; Stok</a:t>
            </a:r>
          </a:p>
        </p:txBody>
      </p:sp>
      <p:sp>
        <p:nvSpPr>
          <p:cNvPr name="TextBox 61" id="61"/>
          <p:cNvSpPr txBox="true"/>
          <p:nvPr/>
        </p:nvSpPr>
        <p:spPr>
          <a:xfrm rot="0">
            <a:off x="6716916" y="7291540"/>
            <a:ext cx="4854026" cy="10858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Admin dapat memperbarui ketersediaan item sehingga sistem menolak pesanan untuk item yang habis.       </a:t>
            </a:r>
          </a:p>
        </p:txBody>
      </p:sp>
      <p:grpSp>
        <p:nvGrpSpPr>
          <p:cNvPr name="Group 62" id="62"/>
          <p:cNvGrpSpPr/>
          <p:nvPr/>
        </p:nvGrpSpPr>
        <p:grpSpPr>
          <a:xfrm rot="0">
            <a:off x="12027989" y="6313284"/>
            <a:ext cx="5360784" cy="2317404"/>
            <a:chOff x="0" y="0"/>
            <a:chExt cx="7147712" cy="3089872"/>
          </a:xfrm>
        </p:grpSpPr>
        <p:sp>
          <p:nvSpPr>
            <p:cNvPr name="Freeform 63" id="63"/>
            <p:cNvSpPr/>
            <p:nvPr/>
          </p:nvSpPr>
          <p:spPr>
            <a:xfrm flipH="false" flipV="false" rot="0">
              <a:off x="0" y="0"/>
              <a:ext cx="7147687" cy="3089910"/>
            </a:xfrm>
            <a:custGeom>
              <a:avLst/>
              <a:gdLst/>
              <a:ahLst/>
              <a:cxnLst/>
              <a:rect r="r" b="b" t="t" l="l"/>
              <a:pathLst>
                <a:path h="3089910" w="7147687">
                  <a:moveTo>
                    <a:pt x="0" y="182880"/>
                  </a:moveTo>
                  <a:cubicBezTo>
                    <a:pt x="0" y="81915"/>
                    <a:pt x="81915" y="0"/>
                    <a:pt x="182880" y="0"/>
                  </a:cubicBezTo>
                  <a:lnTo>
                    <a:pt x="6964807" y="0"/>
                  </a:lnTo>
                  <a:cubicBezTo>
                    <a:pt x="7065772" y="0"/>
                    <a:pt x="7147687" y="81915"/>
                    <a:pt x="7147687" y="182880"/>
                  </a:cubicBezTo>
                  <a:lnTo>
                    <a:pt x="7147687" y="2907030"/>
                  </a:lnTo>
                  <a:cubicBezTo>
                    <a:pt x="7147687" y="3007995"/>
                    <a:pt x="7065772" y="3089910"/>
                    <a:pt x="6964807" y="3089910"/>
                  </a:cubicBezTo>
                  <a:lnTo>
                    <a:pt x="182880" y="3089910"/>
                  </a:lnTo>
                  <a:cubicBezTo>
                    <a:pt x="81915" y="3089910"/>
                    <a:pt x="0" y="3007995"/>
                    <a:pt x="0" y="2907030"/>
                  </a:cubicBezTo>
                  <a:close/>
                </a:path>
              </a:pathLst>
            </a:custGeom>
            <a:solidFill>
              <a:srgbClr val="FFFFFF">
                <a:alpha val="90196"/>
              </a:srgbClr>
            </a:solidFill>
          </p:spPr>
        </p:sp>
      </p:grpSp>
      <p:grpSp>
        <p:nvGrpSpPr>
          <p:cNvPr name="Group 64" id="64"/>
          <p:cNvGrpSpPr/>
          <p:nvPr/>
        </p:nvGrpSpPr>
        <p:grpSpPr>
          <a:xfrm rot="0">
            <a:off x="12027989" y="6284709"/>
            <a:ext cx="5360784" cy="114300"/>
            <a:chOff x="0" y="0"/>
            <a:chExt cx="7147712" cy="152400"/>
          </a:xfrm>
        </p:grpSpPr>
        <p:sp>
          <p:nvSpPr>
            <p:cNvPr name="Freeform 65" id="65"/>
            <p:cNvSpPr/>
            <p:nvPr/>
          </p:nvSpPr>
          <p:spPr>
            <a:xfrm flipH="false" flipV="false" rot="0">
              <a:off x="0" y="0"/>
              <a:ext cx="7147687" cy="152400"/>
            </a:xfrm>
            <a:custGeom>
              <a:avLst/>
              <a:gdLst/>
              <a:ahLst/>
              <a:cxnLst/>
              <a:rect r="r" b="b" t="t" l="l"/>
              <a:pathLst>
                <a:path h="152400" w="7147687">
                  <a:moveTo>
                    <a:pt x="0" y="76200"/>
                  </a:moveTo>
                  <a:cubicBezTo>
                    <a:pt x="0" y="34163"/>
                    <a:pt x="34163" y="0"/>
                    <a:pt x="76200" y="0"/>
                  </a:cubicBezTo>
                  <a:lnTo>
                    <a:pt x="7071487" y="0"/>
                  </a:lnTo>
                  <a:cubicBezTo>
                    <a:pt x="7113524" y="0"/>
                    <a:pt x="7147687" y="34163"/>
                    <a:pt x="7147687" y="76200"/>
                  </a:cubicBezTo>
                  <a:cubicBezTo>
                    <a:pt x="7147687" y="118237"/>
                    <a:pt x="7113524" y="152400"/>
                    <a:pt x="7071487" y="152400"/>
                  </a:cubicBezTo>
                  <a:lnTo>
                    <a:pt x="76200" y="152400"/>
                  </a:lnTo>
                  <a:cubicBezTo>
                    <a:pt x="34163" y="152400"/>
                    <a:pt x="0" y="118237"/>
                    <a:pt x="0" y="76200"/>
                  </a:cubicBezTo>
                  <a:close/>
                </a:path>
              </a:pathLst>
            </a:custGeom>
            <a:solidFill>
              <a:srgbClr val="1B1B27"/>
            </a:solidFill>
          </p:spPr>
        </p:sp>
      </p:grpSp>
      <p:grpSp>
        <p:nvGrpSpPr>
          <p:cNvPr name="Group 66" id="66"/>
          <p:cNvGrpSpPr/>
          <p:nvPr/>
        </p:nvGrpSpPr>
        <p:grpSpPr>
          <a:xfrm rot="0">
            <a:off x="14371139" y="5976042"/>
            <a:ext cx="674484" cy="674484"/>
            <a:chOff x="0" y="0"/>
            <a:chExt cx="899312" cy="899312"/>
          </a:xfrm>
        </p:grpSpPr>
        <p:sp>
          <p:nvSpPr>
            <p:cNvPr name="Freeform 67" id="67"/>
            <p:cNvSpPr/>
            <p:nvPr/>
          </p:nvSpPr>
          <p:spPr>
            <a:xfrm flipH="false" flipV="false" rot="0">
              <a:off x="0" y="0"/>
              <a:ext cx="899287" cy="899287"/>
            </a:xfrm>
            <a:custGeom>
              <a:avLst/>
              <a:gdLst/>
              <a:ahLst/>
              <a:cxnLst/>
              <a:rect r="r" b="b" t="t" l="l"/>
              <a:pathLst>
                <a:path h="899287" w="899287">
                  <a:moveTo>
                    <a:pt x="0" y="449707"/>
                  </a:moveTo>
                  <a:cubicBezTo>
                    <a:pt x="0" y="201295"/>
                    <a:pt x="201295" y="0"/>
                    <a:pt x="449707" y="0"/>
                  </a:cubicBezTo>
                  <a:cubicBezTo>
                    <a:pt x="698119" y="0"/>
                    <a:pt x="899287" y="201295"/>
                    <a:pt x="899287" y="449707"/>
                  </a:cubicBezTo>
                  <a:cubicBezTo>
                    <a:pt x="899287" y="698119"/>
                    <a:pt x="697992" y="899287"/>
                    <a:pt x="449707" y="899287"/>
                  </a:cubicBezTo>
                  <a:cubicBezTo>
                    <a:pt x="201422" y="899287"/>
                    <a:pt x="0" y="697992"/>
                    <a:pt x="0" y="449707"/>
                  </a:cubicBezTo>
                  <a:close/>
                </a:path>
              </a:pathLst>
            </a:custGeom>
            <a:solidFill>
              <a:srgbClr val="1B1B27"/>
            </a:solidFill>
          </p:spPr>
        </p:sp>
      </p:grpSp>
      <p:sp>
        <p:nvSpPr>
          <p:cNvPr name="Freeform 68" id="68" descr="preencoded.png"/>
          <p:cNvSpPr/>
          <p:nvPr/>
        </p:nvSpPr>
        <p:spPr>
          <a:xfrm flipH="false" flipV="false" rot="0">
            <a:off x="14573545" y="6178448"/>
            <a:ext cx="269672" cy="269672"/>
          </a:xfrm>
          <a:custGeom>
            <a:avLst/>
            <a:gdLst/>
            <a:ahLst/>
            <a:cxnLst/>
            <a:rect r="r" b="b" t="t" l="l"/>
            <a:pathLst>
              <a:path h="269672" w="269672">
                <a:moveTo>
                  <a:pt x="0" y="0"/>
                </a:moveTo>
                <a:lnTo>
                  <a:pt x="269672" y="0"/>
                </a:lnTo>
                <a:lnTo>
                  <a:pt x="269672" y="269672"/>
                </a:lnTo>
                <a:lnTo>
                  <a:pt x="0" y="269672"/>
                </a:lnTo>
                <a:lnTo>
                  <a:pt x="0" y="0"/>
                </a:lnTo>
                <a:close/>
              </a:path>
            </a:pathLst>
          </a:custGeom>
          <a:blipFill>
            <a:blip r:embed="rId15">
              <a:extLst>
                <a:ext uri="{96DAC541-7B7A-43D3-8B79-37D633B846F1}">
                  <asvg:svgBlip xmlns:asvg="http://schemas.microsoft.com/office/drawing/2016/SVG/main" r:embed="rId16"/>
                </a:ext>
              </a:extLst>
            </a:blip>
            <a:stretch>
              <a:fillRect l="0" t="-1723" r="0" b="-1727"/>
            </a:stretch>
          </a:blipFill>
        </p:spPr>
      </p:sp>
      <p:sp>
        <p:nvSpPr>
          <p:cNvPr name="TextBox 69" id="69"/>
          <p:cNvSpPr txBox="true"/>
          <p:nvPr/>
        </p:nvSpPr>
        <p:spPr>
          <a:xfrm rot="0">
            <a:off x="12281297" y="6856209"/>
            <a:ext cx="4115695" cy="370284"/>
          </a:xfrm>
          <a:prstGeom prst="rect">
            <a:avLst/>
          </a:prstGeom>
        </p:spPr>
        <p:txBody>
          <a:bodyPr anchor="t" rtlCol="false" tIns="0" lIns="0" bIns="0" rIns="0">
            <a:spAutoFit/>
          </a:bodyPr>
          <a:lstStyle/>
          <a:p>
            <a:pPr algn="l">
              <a:lnSpc>
                <a:spcPts val="2750"/>
              </a:lnSpc>
            </a:pPr>
            <a:r>
              <a:rPr lang="en-US" sz="2187">
                <a:solidFill>
                  <a:srgbClr val="3C3939"/>
                </a:solidFill>
                <a:latin typeface="Raleway"/>
                <a:ea typeface="Raleway"/>
                <a:cs typeface="Raleway"/>
                <a:sym typeface="Raleway"/>
              </a:rPr>
              <a:t>7. Laporan &amp; Rekap Pendapatan</a:t>
            </a:r>
          </a:p>
        </p:txBody>
      </p:sp>
      <p:sp>
        <p:nvSpPr>
          <p:cNvPr name="TextBox 70" id="70"/>
          <p:cNvSpPr txBox="true"/>
          <p:nvPr/>
        </p:nvSpPr>
        <p:spPr>
          <a:xfrm rot="0">
            <a:off x="12281297" y="7291540"/>
            <a:ext cx="4854178" cy="1085850"/>
          </a:xfrm>
          <a:prstGeom prst="rect">
            <a:avLst/>
          </a:prstGeom>
        </p:spPr>
        <p:txBody>
          <a:bodyPr anchor="t" rtlCol="false" tIns="0" lIns="0" bIns="0" rIns="0">
            <a:spAutoFit/>
          </a:bodyPr>
          <a:lstStyle/>
          <a:p>
            <a:pPr algn="l">
              <a:lnSpc>
                <a:spcPts val="2687"/>
              </a:lnSpc>
            </a:pPr>
            <a:r>
              <a:rPr lang="en-US" sz="1750">
                <a:solidFill>
                  <a:srgbClr val="3C3939"/>
                </a:solidFill>
                <a:latin typeface="Roboto"/>
                <a:ea typeface="Roboto"/>
                <a:cs typeface="Roboto"/>
                <a:sym typeface="Roboto"/>
              </a:rPr>
              <a:t>         Sistem menghasilkan rekap harian yang dapat diunduh oleh pemilik untuk analisis performa dan pencatatan keuangan.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67300" y="1609537"/>
            <a:ext cx="9262262" cy="8131494"/>
          </a:xfrm>
          <a:custGeom>
            <a:avLst/>
            <a:gdLst/>
            <a:ahLst/>
            <a:cxnLst/>
            <a:rect r="r" b="b" t="t" l="l"/>
            <a:pathLst>
              <a:path h="8131494" w="9262262">
                <a:moveTo>
                  <a:pt x="0" y="0"/>
                </a:moveTo>
                <a:lnTo>
                  <a:pt x="9262262" y="0"/>
                </a:lnTo>
                <a:lnTo>
                  <a:pt x="9262262" y="8131494"/>
                </a:lnTo>
                <a:lnTo>
                  <a:pt x="0" y="8131494"/>
                </a:lnTo>
                <a:lnTo>
                  <a:pt x="0" y="0"/>
                </a:lnTo>
                <a:close/>
              </a:path>
            </a:pathLst>
          </a:custGeom>
          <a:blipFill>
            <a:blip r:embed="rId2"/>
            <a:stretch>
              <a:fillRect l="0" t="0" r="0" b="0"/>
            </a:stretch>
          </a:blipFill>
        </p:spPr>
      </p:sp>
      <p:sp>
        <p:nvSpPr>
          <p:cNvPr name="TextBox 3" id="3"/>
          <p:cNvSpPr txBox="true"/>
          <p:nvPr/>
        </p:nvSpPr>
        <p:spPr>
          <a:xfrm rot="0">
            <a:off x="1028700" y="623592"/>
            <a:ext cx="10939462" cy="781641"/>
          </a:xfrm>
          <a:prstGeom prst="rect">
            <a:avLst/>
          </a:prstGeom>
        </p:spPr>
        <p:txBody>
          <a:bodyPr anchor="t" rtlCol="false" tIns="0" lIns="0" bIns="0" rIns="0">
            <a:spAutoFit/>
          </a:bodyPr>
          <a:lstStyle/>
          <a:p>
            <a:pPr algn="l">
              <a:lnSpc>
                <a:spcPts val="5874"/>
              </a:lnSpc>
            </a:pPr>
            <a:r>
              <a:rPr lang="en-US" sz="4687">
                <a:solidFill>
                  <a:srgbClr val="1B1B27"/>
                </a:solidFill>
                <a:latin typeface="Raleway"/>
                <a:ea typeface="Raleway"/>
                <a:cs typeface="Raleway"/>
                <a:sym typeface="Raleway"/>
              </a:rPr>
              <a:t>Use Case Diagram Sistem EconoMakan</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759325"/>
            <a:ext cx="3835598" cy="739775"/>
          </a:xfrm>
          <a:prstGeom prst="rect">
            <a:avLst/>
          </a:prstGeom>
        </p:spPr>
        <p:txBody>
          <a:bodyPr anchor="t" rtlCol="false" tIns="0" lIns="0" bIns="0" rIns="0">
            <a:spAutoFit/>
          </a:bodyPr>
          <a:lstStyle/>
          <a:p>
            <a:pPr algn="l">
              <a:lnSpc>
                <a:spcPts val="5874"/>
              </a:lnSpc>
            </a:pPr>
            <a:r>
              <a:rPr lang="en-US" sz="4687">
                <a:solidFill>
                  <a:srgbClr val="1B1B27"/>
                </a:solidFill>
                <a:latin typeface="Raleway"/>
                <a:ea typeface="Raleway"/>
                <a:cs typeface="Raleway"/>
                <a:sym typeface="Raleway"/>
              </a:rPr>
              <a:t>| 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DAHIOdZGjeg</dc:identifier>
  <dcterms:modified xsi:type="dcterms:W3CDTF">2011-08-01T06:04:30Z</dcterms:modified>
  <cp:revision>1</cp:revision>
  <dc:title>EconoMakan</dc:title>
</cp:coreProperties>
</file>